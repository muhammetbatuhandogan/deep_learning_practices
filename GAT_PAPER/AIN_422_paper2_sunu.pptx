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57" r:id="rId6"/>
    <p:sldId id="258" r:id="rId7"/>
    <p:sldId id="264" r:id="rId8"/>
    <p:sldId id="268" r:id="rId9"/>
    <p:sldId id="271" r:id="rId10"/>
    <p:sldId id="263" r:id="rId11"/>
    <p:sldId id="262" r:id="rId12"/>
    <p:sldId id="265" r:id="rId13"/>
    <p:sldId id="261" r:id="rId14"/>
    <p:sldId id="267" r:id="rId15"/>
    <p:sldId id="269" r:id="rId16"/>
    <p:sldId id="270" r:id="rId17"/>
    <p:sldId id="260" r:id="rId18"/>
    <p:sldId id="266" r:id="rId1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153968-B533-4298-ABB4-7E081F025955}" v="3" dt="2025-12-13T14:58:49.285"/>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ema Uygulanmış Stil 1 - Vurgu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248" autoAdjust="0"/>
  </p:normalViewPr>
  <p:slideViewPr>
    <p:cSldViewPr snapToGrid="0">
      <p:cViewPr varScale="1">
        <p:scale>
          <a:sx n="61" d="100"/>
          <a:sy n="61" d="100"/>
        </p:scale>
        <p:origin x="149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C79296-FEFE-4D36-A88E-746B73A50B1D}"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96D1474D-6087-407A-840E-78CF4C250DF8}">
      <dgm:prSet/>
      <dgm:spPr/>
      <dgm:t>
        <a:bodyPr/>
        <a:lstStyle/>
        <a:p>
          <a:r>
            <a:rPr lang="tr-TR" b="1"/>
            <a:t>NVIDIA GeForce RTX 3070</a:t>
          </a:r>
          <a:endParaRPr lang="en-US"/>
        </a:p>
      </dgm:t>
    </dgm:pt>
    <dgm:pt modelId="{46CB8F8F-0CC9-40A0-A64C-A5329B9888B5}" type="parTrans" cxnId="{E94F2BB9-AC7B-4C1C-9D6E-775BA0EF3B00}">
      <dgm:prSet/>
      <dgm:spPr/>
      <dgm:t>
        <a:bodyPr/>
        <a:lstStyle/>
        <a:p>
          <a:endParaRPr lang="en-US"/>
        </a:p>
      </dgm:t>
    </dgm:pt>
    <dgm:pt modelId="{47C5EB22-EBB5-4547-A3F7-187A4BE2BF6A}" type="sibTrans" cxnId="{E94F2BB9-AC7B-4C1C-9D6E-775BA0EF3B00}">
      <dgm:prSet/>
      <dgm:spPr/>
      <dgm:t>
        <a:bodyPr/>
        <a:lstStyle/>
        <a:p>
          <a:endParaRPr lang="en-US"/>
        </a:p>
      </dgm:t>
    </dgm:pt>
    <dgm:pt modelId="{F770F2F9-BD54-4C33-9830-DEF191ECD8CB}">
      <dgm:prSet/>
      <dgm:spPr/>
      <dgm:t>
        <a:bodyPr/>
        <a:lstStyle/>
        <a:p>
          <a:r>
            <a:rPr lang="tr-TR" b="1"/>
            <a:t>4GB VRAM</a:t>
          </a:r>
          <a:endParaRPr lang="en-US"/>
        </a:p>
      </dgm:t>
    </dgm:pt>
    <dgm:pt modelId="{8A796335-96D3-46AC-988A-E784554DC2C5}" type="parTrans" cxnId="{3F5FECB0-B65A-46E6-AC60-01476D5EF743}">
      <dgm:prSet/>
      <dgm:spPr/>
      <dgm:t>
        <a:bodyPr/>
        <a:lstStyle/>
        <a:p>
          <a:endParaRPr lang="en-US"/>
        </a:p>
      </dgm:t>
    </dgm:pt>
    <dgm:pt modelId="{6F149CC0-2E06-4971-B456-44C8A4F0A721}" type="sibTrans" cxnId="{3F5FECB0-B65A-46E6-AC60-01476D5EF743}">
      <dgm:prSet/>
      <dgm:spPr/>
      <dgm:t>
        <a:bodyPr/>
        <a:lstStyle/>
        <a:p>
          <a:endParaRPr lang="en-US"/>
        </a:p>
      </dgm:t>
    </dgm:pt>
    <dgm:pt modelId="{B9E63A8E-98B2-4AF0-AA39-E44EF2C53BCF}" type="pres">
      <dgm:prSet presAssocID="{3DC79296-FEFE-4D36-A88E-746B73A50B1D}" presName="diagram" presStyleCnt="0">
        <dgm:presLayoutVars>
          <dgm:chPref val="1"/>
          <dgm:dir/>
          <dgm:animOne val="branch"/>
          <dgm:animLvl val="lvl"/>
          <dgm:resizeHandles/>
        </dgm:presLayoutVars>
      </dgm:prSet>
      <dgm:spPr/>
    </dgm:pt>
    <dgm:pt modelId="{5EAFA793-1D10-47D3-B79E-C3C0675C190B}" type="pres">
      <dgm:prSet presAssocID="{96D1474D-6087-407A-840E-78CF4C250DF8}" presName="root" presStyleCnt="0"/>
      <dgm:spPr/>
    </dgm:pt>
    <dgm:pt modelId="{3E6A1DC5-4FCD-4B6D-B9C2-2A3CFCBA3437}" type="pres">
      <dgm:prSet presAssocID="{96D1474D-6087-407A-840E-78CF4C250DF8}" presName="rootComposite" presStyleCnt="0"/>
      <dgm:spPr/>
    </dgm:pt>
    <dgm:pt modelId="{B814102F-6A1B-45F3-ADA7-3C6B603B7E75}" type="pres">
      <dgm:prSet presAssocID="{96D1474D-6087-407A-840E-78CF4C250DF8}" presName="rootText" presStyleLbl="node1" presStyleIdx="0" presStyleCnt="2"/>
      <dgm:spPr/>
    </dgm:pt>
    <dgm:pt modelId="{5553C896-A20E-4D9F-BC7F-3080506BBC1D}" type="pres">
      <dgm:prSet presAssocID="{96D1474D-6087-407A-840E-78CF4C250DF8}" presName="rootConnector" presStyleLbl="node1" presStyleIdx="0" presStyleCnt="2"/>
      <dgm:spPr/>
    </dgm:pt>
    <dgm:pt modelId="{2D2F8A75-8AE8-422A-9719-F6AF58D60BC6}" type="pres">
      <dgm:prSet presAssocID="{96D1474D-6087-407A-840E-78CF4C250DF8}" presName="childShape" presStyleCnt="0"/>
      <dgm:spPr/>
    </dgm:pt>
    <dgm:pt modelId="{752CF89B-0F6E-488A-B381-2415B0620DC7}" type="pres">
      <dgm:prSet presAssocID="{F770F2F9-BD54-4C33-9830-DEF191ECD8CB}" presName="root" presStyleCnt="0"/>
      <dgm:spPr/>
    </dgm:pt>
    <dgm:pt modelId="{E25690B9-3B25-452A-B8C1-3A483EE74E54}" type="pres">
      <dgm:prSet presAssocID="{F770F2F9-BD54-4C33-9830-DEF191ECD8CB}" presName="rootComposite" presStyleCnt="0"/>
      <dgm:spPr/>
    </dgm:pt>
    <dgm:pt modelId="{A23238D2-12C2-47AD-854D-0CAE320A7AA8}" type="pres">
      <dgm:prSet presAssocID="{F770F2F9-BD54-4C33-9830-DEF191ECD8CB}" presName="rootText" presStyleLbl="node1" presStyleIdx="1" presStyleCnt="2"/>
      <dgm:spPr/>
    </dgm:pt>
    <dgm:pt modelId="{3CB9F649-7015-4E1C-BA78-249D279447FA}" type="pres">
      <dgm:prSet presAssocID="{F770F2F9-BD54-4C33-9830-DEF191ECD8CB}" presName="rootConnector" presStyleLbl="node1" presStyleIdx="1" presStyleCnt="2"/>
      <dgm:spPr/>
    </dgm:pt>
    <dgm:pt modelId="{10265FA4-6244-4FF4-BEE9-4CAD5968312F}" type="pres">
      <dgm:prSet presAssocID="{F770F2F9-BD54-4C33-9830-DEF191ECD8CB}" presName="childShape" presStyleCnt="0"/>
      <dgm:spPr/>
    </dgm:pt>
  </dgm:ptLst>
  <dgm:cxnLst>
    <dgm:cxn modelId="{1A11A91B-E26F-4F4E-8562-42F0299C7FB4}" type="presOf" srcId="{96D1474D-6087-407A-840E-78CF4C250DF8}" destId="{5553C896-A20E-4D9F-BC7F-3080506BBC1D}" srcOrd="1" destOrd="0" presId="urn:microsoft.com/office/officeart/2005/8/layout/hierarchy3"/>
    <dgm:cxn modelId="{FFF4845D-B11E-4CD2-A9EC-3250DA63FF5D}" type="presOf" srcId="{3DC79296-FEFE-4D36-A88E-746B73A50B1D}" destId="{B9E63A8E-98B2-4AF0-AA39-E44EF2C53BCF}" srcOrd="0" destOrd="0" presId="urn:microsoft.com/office/officeart/2005/8/layout/hierarchy3"/>
    <dgm:cxn modelId="{70182B65-406E-4388-8508-5859B80617A4}" type="presOf" srcId="{96D1474D-6087-407A-840E-78CF4C250DF8}" destId="{B814102F-6A1B-45F3-ADA7-3C6B603B7E75}" srcOrd="0" destOrd="0" presId="urn:microsoft.com/office/officeart/2005/8/layout/hierarchy3"/>
    <dgm:cxn modelId="{3F5FECB0-B65A-46E6-AC60-01476D5EF743}" srcId="{3DC79296-FEFE-4D36-A88E-746B73A50B1D}" destId="{F770F2F9-BD54-4C33-9830-DEF191ECD8CB}" srcOrd="1" destOrd="0" parTransId="{8A796335-96D3-46AC-988A-E784554DC2C5}" sibTransId="{6F149CC0-2E06-4971-B456-44C8A4F0A721}"/>
    <dgm:cxn modelId="{E94F2BB9-AC7B-4C1C-9D6E-775BA0EF3B00}" srcId="{3DC79296-FEFE-4D36-A88E-746B73A50B1D}" destId="{96D1474D-6087-407A-840E-78CF4C250DF8}" srcOrd="0" destOrd="0" parTransId="{46CB8F8F-0CC9-40A0-A64C-A5329B9888B5}" sibTransId="{47C5EB22-EBB5-4547-A3F7-187A4BE2BF6A}"/>
    <dgm:cxn modelId="{C1CAE7F1-E9E1-4119-A80E-04D9F074181E}" type="presOf" srcId="{F770F2F9-BD54-4C33-9830-DEF191ECD8CB}" destId="{A23238D2-12C2-47AD-854D-0CAE320A7AA8}" srcOrd="0" destOrd="0" presId="urn:microsoft.com/office/officeart/2005/8/layout/hierarchy3"/>
    <dgm:cxn modelId="{E1565CFA-64F4-4887-BA99-FBF612CF8C04}" type="presOf" srcId="{F770F2F9-BD54-4C33-9830-DEF191ECD8CB}" destId="{3CB9F649-7015-4E1C-BA78-249D279447FA}" srcOrd="1" destOrd="0" presId="urn:microsoft.com/office/officeart/2005/8/layout/hierarchy3"/>
    <dgm:cxn modelId="{2F4B33DC-3B40-42C1-ADD3-0F74FB63F6AF}" type="presParOf" srcId="{B9E63A8E-98B2-4AF0-AA39-E44EF2C53BCF}" destId="{5EAFA793-1D10-47D3-B79E-C3C0675C190B}" srcOrd="0" destOrd="0" presId="urn:microsoft.com/office/officeart/2005/8/layout/hierarchy3"/>
    <dgm:cxn modelId="{72A6E0D3-B496-4AE7-A668-FBF0EC95FBE4}" type="presParOf" srcId="{5EAFA793-1D10-47D3-B79E-C3C0675C190B}" destId="{3E6A1DC5-4FCD-4B6D-B9C2-2A3CFCBA3437}" srcOrd="0" destOrd="0" presId="urn:microsoft.com/office/officeart/2005/8/layout/hierarchy3"/>
    <dgm:cxn modelId="{2B2C3D9F-A054-4DA6-A768-E88BA8F78583}" type="presParOf" srcId="{3E6A1DC5-4FCD-4B6D-B9C2-2A3CFCBA3437}" destId="{B814102F-6A1B-45F3-ADA7-3C6B603B7E75}" srcOrd="0" destOrd="0" presId="urn:microsoft.com/office/officeart/2005/8/layout/hierarchy3"/>
    <dgm:cxn modelId="{80EF86D5-35D3-48CC-B094-D368CCCBD629}" type="presParOf" srcId="{3E6A1DC5-4FCD-4B6D-B9C2-2A3CFCBA3437}" destId="{5553C896-A20E-4D9F-BC7F-3080506BBC1D}" srcOrd="1" destOrd="0" presId="urn:microsoft.com/office/officeart/2005/8/layout/hierarchy3"/>
    <dgm:cxn modelId="{E643A318-F1F2-4303-BC31-E9453A251689}" type="presParOf" srcId="{5EAFA793-1D10-47D3-B79E-C3C0675C190B}" destId="{2D2F8A75-8AE8-422A-9719-F6AF58D60BC6}" srcOrd="1" destOrd="0" presId="urn:microsoft.com/office/officeart/2005/8/layout/hierarchy3"/>
    <dgm:cxn modelId="{AFF78221-06F6-4B17-8D8B-722A5592606A}" type="presParOf" srcId="{B9E63A8E-98B2-4AF0-AA39-E44EF2C53BCF}" destId="{752CF89B-0F6E-488A-B381-2415B0620DC7}" srcOrd="1" destOrd="0" presId="urn:microsoft.com/office/officeart/2005/8/layout/hierarchy3"/>
    <dgm:cxn modelId="{9B80C996-5AD4-46A7-A525-A06B0237FA27}" type="presParOf" srcId="{752CF89B-0F6E-488A-B381-2415B0620DC7}" destId="{E25690B9-3B25-452A-B8C1-3A483EE74E54}" srcOrd="0" destOrd="0" presId="urn:microsoft.com/office/officeart/2005/8/layout/hierarchy3"/>
    <dgm:cxn modelId="{2A062EFC-91E7-4079-A614-C3B8EE5C4075}" type="presParOf" srcId="{E25690B9-3B25-452A-B8C1-3A483EE74E54}" destId="{A23238D2-12C2-47AD-854D-0CAE320A7AA8}" srcOrd="0" destOrd="0" presId="urn:microsoft.com/office/officeart/2005/8/layout/hierarchy3"/>
    <dgm:cxn modelId="{E862E0C1-0DBC-4651-A93D-E445FC3E3528}" type="presParOf" srcId="{E25690B9-3B25-452A-B8C1-3A483EE74E54}" destId="{3CB9F649-7015-4E1C-BA78-249D279447FA}" srcOrd="1" destOrd="0" presId="urn:microsoft.com/office/officeart/2005/8/layout/hierarchy3"/>
    <dgm:cxn modelId="{681741AB-379D-4791-BF53-434F3BABA613}" type="presParOf" srcId="{752CF89B-0F6E-488A-B381-2415B0620DC7}" destId="{10265FA4-6244-4FF4-BEE9-4CAD5968312F}"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14102F-6A1B-45F3-ADA7-3C6B603B7E75}">
      <dsp:nvSpPr>
        <dsp:cNvPr id="0" name=""/>
        <dsp:cNvSpPr/>
      </dsp:nvSpPr>
      <dsp:spPr>
        <a:xfrm>
          <a:off x="1283" y="1007554"/>
          <a:ext cx="4672458" cy="233622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45" tIns="62230" rIns="93345" bIns="62230" numCol="1" spcCol="1270" anchor="ctr" anchorCtr="0">
          <a:noAutofit/>
        </a:bodyPr>
        <a:lstStyle/>
        <a:p>
          <a:pPr marL="0" lvl="0" indent="0" algn="ctr" defTabSz="2178050">
            <a:lnSpc>
              <a:spcPct val="90000"/>
            </a:lnSpc>
            <a:spcBef>
              <a:spcPct val="0"/>
            </a:spcBef>
            <a:spcAft>
              <a:spcPct val="35000"/>
            </a:spcAft>
            <a:buNone/>
          </a:pPr>
          <a:r>
            <a:rPr lang="tr-TR" sz="4900" b="1" kern="1200"/>
            <a:t>NVIDIA GeForce RTX 3070</a:t>
          </a:r>
          <a:endParaRPr lang="en-US" sz="4900" kern="1200"/>
        </a:p>
      </dsp:txBody>
      <dsp:txXfrm>
        <a:off x="69709" y="1075980"/>
        <a:ext cx="4535606" cy="2199377"/>
      </dsp:txXfrm>
    </dsp:sp>
    <dsp:sp modelId="{A23238D2-12C2-47AD-854D-0CAE320A7AA8}">
      <dsp:nvSpPr>
        <dsp:cNvPr id="0" name=""/>
        <dsp:cNvSpPr/>
      </dsp:nvSpPr>
      <dsp:spPr>
        <a:xfrm>
          <a:off x="5841857" y="1007554"/>
          <a:ext cx="4672458" cy="233622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345" tIns="62230" rIns="93345" bIns="62230" numCol="1" spcCol="1270" anchor="ctr" anchorCtr="0">
          <a:noAutofit/>
        </a:bodyPr>
        <a:lstStyle/>
        <a:p>
          <a:pPr marL="0" lvl="0" indent="0" algn="ctr" defTabSz="2178050">
            <a:lnSpc>
              <a:spcPct val="90000"/>
            </a:lnSpc>
            <a:spcBef>
              <a:spcPct val="0"/>
            </a:spcBef>
            <a:spcAft>
              <a:spcPct val="35000"/>
            </a:spcAft>
            <a:buNone/>
          </a:pPr>
          <a:r>
            <a:rPr lang="tr-TR" sz="4900" b="1" kern="1200"/>
            <a:t>4GB VRAM</a:t>
          </a:r>
          <a:endParaRPr lang="en-US" sz="4900" kern="1200"/>
        </a:p>
      </dsp:txBody>
      <dsp:txXfrm>
        <a:off x="5910283" y="1075980"/>
        <a:ext cx="4535606" cy="219937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2448C3-0C92-4B02-B54E-E317DAFDC087}" type="datetimeFigureOut">
              <a:rPr lang="tr-TR" smtClean="0"/>
              <a:t>14.12.2025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F4F02-D2E3-4344-93B4-5FDBFC14E748}" type="slidenum">
              <a:rPr lang="tr-TR" smtClean="0"/>
              <a:t>‹#›</a:t>
            </a:fld>
            <a:endParaRPr lang="tr-TR"/>
          </a:p>
        </p:txBody>
      </p:sp>
    </p:spTree>
    <p:extLst>
      <p:ext uri="{BB962C8B-B14F-4D97-AF65-F5344CB8AC3E}">
        <p14:creationId xmlns:p14="http://schemas.microsoft.com/office/powerpoint/2010/main" val="2118665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Graph Neural Networks (GNN) have become essential for processing non-Euclidean data structures (social networks, molecules...). However, early GNN models lacked the ability </a:t>
            </a:r>
            <a:r>
              <a:rPr lang="en-US"/>
              <a:t>to weigh the importance of neighbors dynamically. Inspired by the success of Attention Mechanisms in NLP (transformers), GAT was introduced to be a solution for this problem. </a:t>
            </a:r>
          </a:p>
          <a:p>
            <a:r>
              <a:rPr lang="en-US">
                <a:latin typeface="Aptos"/>
                <a:ea typeface="Calibri"/>
                <a:cs typeface="Calibri"/>
              </a:rPr>
              <a:t>Our motivation for choosing this paper lies in its foundational role in modern Geometric Deep Learning and its potential for further improvements.</a:t>
            </a:r>
          </a:p>
        </p:txBody>
      </p:sp>
      <p:sp>
        <p:nvSpPr>
          <p:cNvPr id="4" name="Slide Number Placeholder 3"/>
          <p:cNvSpPr>
            <a:spLocks noGrp="1"/>
          </p:cNvSpPr>
          <p:nvPr>
            <p:ph type="sldNum" sz="quarter" idx="5"/>
          </p:nvPr>
        </p:nvSpPr>
        <p:spPr/>
        <p:txBody>
          <a:bodyPr/>
          <a:lstStyle/>
          <a:p>
            <a:fld id="{B11F4F02-D2E3-4344-93B4-5FDBFC14E748}" type="slidenum">
              <a:rPr lang="tr-TR" smtClean="0"/>
              <a:t>3</a:t>
            </a:fld>
            <a:endParaRPr lang="tr-TR"/>
          </a:p>
        </p:txBody>
      </p:sp>
    </p:spTree>
    <p:extLst>
      <p:ext uri="{BB962C8B-B14F-4D97-AF65-F5344CB8AC3E}">
        <p14:creationId xmlns:p14="http://schemas.microsoft.com/office/powerpoint/2010/main" val="2425194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As mentioned, GCN has fundamental limitation due to its isotropic behaviour. In a GCN, </a:t>
            </a:r>
            <a:r>
              <a:rPr lang="en-US"/>
              <a:t>the aggregation of neighbor information is static. It relies purely on the graph structure (specifically, the degree of the nodes) to determine weights. Formally, the weight assigned to a neighbor j is 1/</a:t>
            </a:r>
            <a:r>
              <a:rPr lang="tr"/>
              <a:t>√(deg_i * deg_j) . This means if a node has 10 neighbors, GCN treats them all as roughly equally important, structurally speaking. This approach is often suboptimal in real-world scenarios. For example, in a citation network, a paper might cite 20 references, but only 1 or 2 are fundamental to its premise. An isotropic model cannot distinguishingly prioritize these key connections.</a:t>
            </a:r>
          </a:p>
          <a:p>
            <a:endParaRPr lang="tr">
              <a:latin typeface="Aptos"/>
              <a:ea typeface="Calibri"/>
              <a:cs typeface="Calibri"/>
            </a:endParaRPr>
          </a:p>
          <a:p>
            <a:r>
              <a:rPr lang="tr">
                <a:latin typeface="Aptos"/>
                <a:ea typeface="Calibri"/>
                <a:cs typeface="Calibri"/>
              </a:rPr>
              <a:t>GAT addresses this by introducing anisotropy. </a:t>
            </a:r>
            <a:r>
              <a:rPr lang="tr"/>
              <a:t>It employs a trainable attention mechanism that looks at the </a:t>
            </a:r>
            <a:r>
              <a:rPr lang="tr" i="1"/>
              <a:t>features</a:t>
            </a:r>
            <a:r>
              <a:rPr lang="tr"/>
              <a:t> of the neighbors, not just their existence. This allows the model to learn disparate importance weights for different neighbors, enabling it to focus on the most relevant information and ignore noise.</a:t>
            </a:r>
            <a:endParaRPr lang="tr">
              <a:latin typeface="Aptos"/>
              <a:ea typeface="Calibri"/>
              <a:cs typeface="Calibri"/>
            </a:endParaRPr>
          </a:p>
        </p:txBody>
      </p:sp>
      <p:sp>
        <p:nvSpPr>
          <p:cNvPr id="4" name="Slide Number Placeholder 3"/>
          <p:cNvSpPr>
            <a:spLocks noGrp="1"/>
          </p:cNvSpPr>
          <p:nvPr>
            <p:ph type="sldNum" sz="quarter" idx="5"/>
          </p:nvPr>
        </p:nvSpPr>
        <p:spPr/>
        <p:txBody>
          <a:bodyPr/>
          <a:lstStyle/>
          <a:p>
            <a:fld id="{B11F4F02-D2E3-4344-93B4-5FDBFC14E748}" type="slidenum">
              <a:rPr lang="tr-TR" smtClean="0"/>
              <a:t>4</a:t>
            </a:fld>
            <a:endParaRPr lang="tr-TR"/>
          </a:p>
        </p:txBody>
      </p:sp>
    </p:spTree>
    <p:extLst>
      <p:ext uri="{BB962C8B-B14F-4D97-AF65-F5344CB8AC3E}">
        <p14:creationId xmlns:p14="http://schemas.microsoft.com/office/powerpoint/2010/main" val="1386984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The goal of the mathematical structure is to compute an attention coefficient e_ij representing the importance of neighbor j to i. The process consists of three main steps:</a:t>
            </a:r>
          </a:p>
          <a:p>
            <a:pPr marL="228600" indent="-228600">
              <a:buAutoNum type="arabicParenR"/>
            </a:pPr>
            <a:r>
              <a:rPr lang="en-US">
                <a:latin typeface="Calibri"/>
                <a:ea typeface="Calibri"/>
                <a:cs typeface="Calibri"/>
              </a:rPr>
              <a:t>Linear Transformation: First, a shared weight matrix W is applied to the feature vectors of every node (h). This projects the input features into a higher-level representation suitable for attention.</a:t>
            </a:r>
          </a:p>
          <a:p>
            <a:pPr marL="228600" indent="-228600">
              <a:buAutoNum type="arabicParenR"/>
            </a:pPr>
            <a:r>
              <a:rPr lang="en-US">
                <a:latin typeface="Calibri"/>
                <a:ea typeface="Calibri"/>
                <a:cs typeface="Calibri"/>
              </a:rPr>
              <a:t>Attention Mechanism: The mechanism itself is a single layer feed-forward, parameterized by a weight vector a. We concatenate the transformed features of the source and target nodes (W_h_i || W_h_j). The vector a then maps this high-dimensional concatenation to a single scalar value. A LeakyReLu activation(with negative slope 0.2) is applied to introduce non-linearity.</a:t>
            </a:r>
          </a:p>
          <a:p>
            <a:pPr marL="228600" indent="-228600">
              <a:buAutoNum type="arabicParenR"/>
            </a:pPr>
            <a:r>
              <a:rPr lang="en-US">
                <a:latin typeface="Calibri"/>
                <a:ea typeface="Calibri"/>
                <a:cs typeface="Calibri"/>
              </a:rPr>
              <a:t>Normalization: The raw scores e_ij can be arbitrary real numbers. To make them comparable and usable as weights, we normalize them using SOftmax over all neighbors of node i. This ensures the coefficients sum to 1.</a:t>
            </a:r>
          </a:p>
          <a:p>
            <a:endParaRPr lang="en-US">
              <a:latin typeface="Calibri"/>
              <a:ea typeface="Calibri"/>
              <a:cs typeface="Calibri"/>
            </a:endParaRPr>
          </a:p>
          <a:p>
            <a:r>
              <a:rPr lang="en-US">
                <a:latin typeface="Calibri"/>
                <a:ea typeface="Calibri"/>
                <a:cs typeface="Calibri"/>
              </a:rPr>
              <a:t>Finally, </a:t>
            </a:r>
            <a:r>
              <a:rPr lang="en-US"/>
              <a:t>to stabilize learning (similar to Transformer models in NLP), GAT employs Multi-Head Attention. We compute K independent attention mechanisms in parallel. For intermediate layers, their outputs are concatenated(preserving all information); for the final output layer, they are averaged(to produce a single prediction).</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B11F4F02-D2E3-4344-93B4-5FDBFC14E748}" type="slidenum">
              <a:rPr lang="tr-TR" smtClean="0"/>
              <a:t>5</a:t>
            </a:fld>
            <a:endParaRPr lang="tr-TR"/>
          </a:p>
        </p:txBody>
      </p:sp>
    </p:spTree>
    <p:extLst>
      <p:ext uri="{BB962C8B-B14F-4D97-AF65-F5344CB8AC3E}">
        <p14:creationId xmlns:p14="http://schemas.microsoft.com/office/powerpoint/2010/main" val="2949692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0" dirty="0"/>
              <a:t>T</a:t>
            </a:r>
            <a:r>
              <a:rPr lang="en-US" b="0" dirty="0"/>
              <a:t>o reproduce the paper's results and test our contribution, we selected the Cora dataset, which is widely considered the 'MNIST' of graph learning benchmarks. It represents a network of scientific publications.</a:t>
            </a:r>
            <a:endParaRPr lang="tr-TR" b="0" dirty="0"/>
          </a:p>
          <a:p>
            <a:endParaRPr lang="tr-TR" b="0" dirty="0"/>
          </a:p>
          <a:p>
            <a:r>
              <a:rPr lang="en-US" b="0" dirty="0"/>
              <a:t>In this graph, every node represents a unique scientific paper—there are roughly 2,700 of them. The edges represent citation links. In the original data, these are directed (A cites B), but following the GAT paper's methodology, we treated the graph as undirected to allow information to flow in both directions between related papers.</a:t>
            </a:r>
            <a:endParaRPr lang="tr-TR" b="0" dirty="0"/>
          </a:p>
          <a:p>
            <a:endParaRPr lang="tr-TR" b="0" dirty="0"/>
          </a:p>
          <a:p>
            <a:r>
              <a:rPr lang="en-US" b="0" dirty="0"/>
              <a:t>For the input features, we don't feed the raw text of the papers into the model. Instead, each paper is represented by a Bag-of-Words vector of size 1,433. This is a binary vector where a '1' means a specific keyword exists in the paper, and '0' means it doesn’t</a:t>
            </a:r>
            <a:endParaRPr lang="tr-TR" b="0" dirty="0"/>
          </a:p>
          <a:p>
            <a:endParaRPr lang="tr-TR" b="0" dirty="0"/>
          </a:p>
          <a:p>
            <a:r>
              <a:rPr lang="en-US" b="0" dirty="0"/>
              <a:t>Our goal is Node Classification. We have 7 different subject classes like Neural Networks or Genetic Algorithms. We train the model using only a very small fraction of labeled nodes—just 140 papers—and the model must learn to predict the subjects of the remaining papers by aggregating feature information from their neighbors.</a:t>
            </a:r>
            <a:endParaRPr lang="tr-TR" b="0" dirty="0"/>
          </a:p>
        </p:txBody>
      </p:sp>
      <p:sp>
        <p:nvSpPr>
          <p:cNvPr id="4" name="Slayt Numarası Yer Tutucusu 3"/>
          <p:cNvSpPr>
            <a:spLocks noGrp="1"/>
          </p:cNvSpPr>
          <p:nvPr>
            <p:ph type="sldNum" sz="quarter" idx="5"/>
          </p:nvPr>
        </p:nvSpPr>
        <p:spPr/>
        <p:txBody>
          <a:bodyPr/>
          <a:lstStyle/>
          <a:p>
            <a:fld id="{B11F4F02-D2E3-4344-93B4-5FDBFC14E748}" type="slidenum">
              <a:rPr lang="tr-TR" smtClean="0"/>
              <a:t>7</a:t>
            </a:fld>
            <a:endParaRPr lang="tr-TR"/>
          </a:p>
        </p:txBody>
      </p:sp>
    </p:spTree>
    <p:extLst>
      <p:ext uri="{BB962C8B-B14F-4D97-AF65-F5344CB8AC3E}">
        <p14:creationId xmlns:p14="http://schemas.microsoft.com/office/powerpoint/2010/main" val="1384138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b="0" dirty="0"/>
              <a:t>Moving on to our implementation strategy. While the original paper utilized TensorFlow, we chose to implement the model from scratch using </a:t>
            </a:r>
            <a:r>
              <a:rPr lang="en-US" b="0" dirty="0" err="1"/>
              <a:t>PyTorch</a:t>
            </a:r>
            <a:r>
              <a:rPr lang="en-US" b="0" dirty="0"/>
              <a:t>. </a:t>
            </a:r>
            <a:endParaRPr lang="tr-TR" b="0" dirty="0"/>
          </a:p>
          <a:p>
            <a:endParaRPr lang="tr-TR" b="0" dirty="0"/>
          </a:p>
          <a:p>
            <a:r>
              <a:rPr lang="en-US" b="0" dirty="0"/>
              <a:t>The core of our code is the Masked Self-Attention mechanism. For every node, the model learns a dynamic weighting score—essentially asking, </a:t>
            </a:r>
            <a:r>
              <a:rPr lang="en-US" b="0" i="1" dirty="0"/>
              <a:t>'How important is this neighbor to me?'</a:t>
            </a:r>
            <a:r>
              <a:rPr lang="en-US" b="0" dirty="0"/>
              <a:t>. We implemented a masking operation where non-connected nodes are assigned negative infinity scores. When passed through the </a:t>
            </a:r>
            <a:r>
              <a:rPr lang="en-US" b="0" dirty="0" err="1"/>
              <a:t>Softmax</a:t>
            </a:r>
            <a:r>
              <a:rPr lang="en-US" b="0" dirty="0"/>
              <a:t> function, these become zero, </a:t>
            </a:r>
            <a:r>
              <a:rPr lang="tr-TR" b="0" dirty="0" err="1"/>
              <a:t>so</a:t>
            </a:r>
            <a:r>
              <a:rPr lang="tr-TR" b="0" dirty="0"/>
              <a:t> </a:t>
            </a:r>
            <a:r>
              <a:rPr lang="en-US" b="0" dirty="0"/>
              <a:t>the model only aggregates information from valid neighbors</a:t>
            </a:r>
            <a:r>
              <a:rPr lang="tr-TR" b="0" dirty="0"/>
              <a:t>.</a:t>
            </a:r>
          </a:p>
          <a:p>
            <a:endParaRPr lang="tr-TR" b="0" dirty="0"/>
          </a:p>
          <a:p>
            <a:r>
              <a:rPr lang="en-US" b="0" dirty="0"/>
              <a:t>Following the paper's specific configuration for Cora, we used a Multi-Head structure with 8 heads in the first layer to stabilize learning, followed by a single output head. This baseline implementation achieved 82.10% accuracy, which successfully reproduces the results reported in the original paper, confirming that our foundation is solid.</a:t>
            </a:r>
            <a:endParaRPr lang="tr-TR" b="0" dirty="0"/>
          </a:p>
        </p:txBody>
      </p:sp>
      <p:sp>
        <p:nvSpPr>
          <p:cNvPr id="4" name="Slayt Numarası Yer Tutucusu 3"/>
          <p:cNvSpPr>
            <a:spLocks noGrp="1"/>
          </p:cNvSpPr>
          <p:nvPr>
            <p:ph type="sldNum" sz="quarter" idx="5"/>
          </p:nvPr>
        </p:nvSpPr>
        <p:spPr/>
        <p:txBody>
          <a:bodyPr/>
          <a:lstStyle/>
          <a:p>
            <a:fld id="{B11F4F02-D2E3-4344-93B4-5FDBFC14E748}" type="slidenum">
              <a:rPr lang="tr-TR" smtClean="0"/>
              <a:t>8</a:t>
            </a:fld>
            <a:endParaRPr lang="tr-TR"/>
          </a:p>
        </p:txBody>
      </p:sp>
    </p:spTree>
    <p:extLst>
      <p:ext uri="{BB962C8B-B14F-4D97-AF65-F5344CB8AC3E}">
        <p14:creationId xmlns:p14="http://schemas.microsoft.com/office/powerpoint/2010/main" val="332012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After building the baseline model, we noticed an area of ​​improvement in the original structure. The standard GAT model simply averages the information from eight different 'heads' in the final layer, combining it. In other words, the model gives equal weight to the opinions of each head.</a:t>
            </a:r>
            <a:endParaRPr lang="tr-TR" dirty="0"/>
          </a:p>
          <a:p>
            <a:endParaRPr lang="tr-TR" dirty="0"/>
          </a:p>
          <a:p>
            <a:r>
              <a:rPr lang="en-US" dirty="0"/>
              <a:t>We questioned this assumption. We said, 'Maybe Head 3 is an expert at recognizing AI articles, while Head 5 is better at Genetics articles.' Why should we treat them all equally</a:t>
            </a:r>
            <a:r>
              <a:rPr lang="tr-TR" dirty="0"/>
              <a:t>?</a:t>
            </a:r>
          </a:p>
          <a:p>
            <a:endParaRPr lang="tr-TR" dirty="0"/>
          </a:p>
          <a:p>
            <a:r>
              <a:rPr lang="en-US" dirty="0"/>
              <a:t>That's why we added a mechanism to the model called 'Dynamic Head Attention.' The model no longer blindly averages its output; it uses a second layer of weights that calculate how reliable each head is for the current node. In other words, the model applies attention not only to its neighbors but also to its own internal mechanisms.</a:t>
            </a:r>
            <a:endParaRPr lang="tr-TR" dirty="0"/>
          </a:p>
        </p:txBody>
      </p:sp>
      <p:sp>
        <p:nvSpPr>
          <p:cNvPr id="4" name="Slayt Numarası Yer Tutucusu 3"/>
          <p:cNvSpPr>
            <a:spLocks noGrp="1"/>
          </p:cNvSpPr>
          <p:nvPr>
            <p:ph type="sldNum" sz="quarter" idx="5"/>
          </p:nvPr>
        </p:nvSpPr>
        <p:spPr/>
        <p:txBody>
          <a:bodyPr/>
          <a:lstStyle/>
          <a:p>
            <a:fld id="{B11F4F02-D2E3-4344-93B4-5FDBFC14E748}" type="slidenum">
              <a:rPr lang="tr-TR" smtClean="0"/>
              <a:t>9</a:t>
            </a:fld>
            <a:endParaRPr lang="tr-TR"/>
          </a:p>
        </p:txBody>
      </p:sp>
    </p:spTree>
    <p:extLst>
      <p:ext uri="{BB962C8B-B14F-4D97-AF65-F5344CB8AC3E}">
        <p14:creationId xmlns:p14="http://schemas.microsoft.com/office/powerpoint/2010/main" val="2338555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Moving on to our experimental results. First, looking at the Baseline GAT , we achieved a test accuracy of </a:t>
            </a:r>
            <a:r>
              <a:rPr lang="en-US" b="0" dirty="0"/>
              <a:t>82.10%. </a:t>
            </a:r>
            <a:r>
              <a:rPr lang="en-US" dirty="0"/>
              <a:t>This is a significant success for us because it closely matches the benchmark results reported in the original paper. </a:t>
            </a:r>
            <a:endParaRPr lang="tr-TR" dirty="0"/>
          </a:p>
          <a:p>
            <a:endParaRPr lang="tr-TR" dirty="0"/>
          </a:p>
          <a:p>
            <a:r>
              <a:rPr lang="en-US" b="0" dirty="0"/>
              <a:t>However, when we look at our Dynamic Head GAT, we see an accuracy of 82.00%. Essentially, the performance remained comparable to the baseline, but we did not observe the improvement we hypothesized.</a:t>
            </a:r>
            <a:r>
              <a:rPr lang="en-US" dirty="0"/>
              <a:t> </a:t>
            </a:r>
            <a:r>
              <a:rPr lang="en-US" b="0" dirty="0"/>
              <a:t>The natural question is: Why? Our analysis points to Data Scarcity and Over-parameterization.</a:t>
            </a:r>
            <a:endParaRPr lang="tr-TR" b="0" dirty="0"/>
          </a:p>
          <a:p>
            <a:endParaRPr lang="tr-TR" b="0" dirty="0"/>
          </a:p>
          <a:p>
            <a:r>
              <a:rPr lang="en-US" dirty="0"/>
              <a:t>As I mentioned earlier, the Cora training set contains only </a:t>
            </a:r>
            <a:r>
              <a:rPr lang="en-US" b="0" dirty="0"/>
              <a:t>140 nodes. </a:t>
            </a:r>
            <a:r>
              <a:rPr lang="en-US" dirty="0"/>
              <a:t>By adding a secondary attention mechanism to learn 'Head Importance,' we increased the model's complexity. With such limited data, the model struggled to learn meaningful weights for the heads—it simply didn't have enough examples to differentiate between a 'good' head and a 'bad' head.«</a:t>
            </a:r>
            <a:endParaRPr lang="tr-TR" dirty="0"/>
          </a:p>
          <a:p>
            <a:endParaRPr lang="tr-TR" b="0" dirty="0"/>
          </a:p>
          <a:p>
            <a:r>
              <a:rPr lang="tr-TR" dirty="0"/>
              <a:t>As a </a:t>
            </a:r>
            <a:r>
              <a:rPr lang="tr-TR" dirty="0" err="1"/>
              <a:t>results</a:t>
            </a:r>
            <a:r>
              <a:rPr lang="tr-TR" dirty="0"/>
              <a:t> </a:t>
            </a:r>
            <a:r>
              <a:rPr lang="tr-TR" dirty="0" err="1"/>
              <a:t>we</a:t>
            </a:r>
            <a:r>
              <a:rPr lang="tr-TR" dirty="0"/>
              <a:t> </a:t>
            </a:r>
            <a:r>
              <a:rPr lang="tr-TR" dirty="0" err="1"/>
              <a:t>think</a:t>
            </a:r>
            <a:r>
              <a:rPr lang="tr-TR" dirty="0"/>
              <a:t> </a:t>
            </a:r>
            <a:r>
              <a:rPr lang="tr-TR" dirty="0" err="1"/>
              <a:t>for</a:t>
            </a:r>
            <a:r>
              <a:rPr lang="en-US" dirty="0"/>
              <a:t> small</a:t>
            </a:r>
            <a:r>
              <a:rPr lang="tr-TR" dirty="0"/>
              <a:t>,</a:t>
            </a:r>
            <a:r>
              <a:rPr lang="en-US" dirty="0"/>
              <a:t> graphs like Cora, simple aggregation strategies—like averaging—are robust enough. Our proposed mechanism would likely be more effective on larger, more complex datasets where the distinction between heads is more critical.</a:t>
            </a:r>
            <a:endParaRPr lang="tr-TR" b="0" dirty="0"/>
          </a:p>
        </p:txBody>
      </p:sp>
      <p:sp>
        <p:nvSpPr>
          <p:cNvPr id="4" name="Slayt Numarası Yer Tutucusu 3"/>
          <p:cNvSpPr>
            <a:spLocks noGrp="1"/>
          </p:cNvSpPr>
          <p:nvPr>
            <p:ph type="sldNum" sz="quarter" idx="5"/>
          </p:nvPr>
        </p:nvSpPr>
        <p:spPr/>
        <p:txBody>
          <a:bodyPr/>
          <a:lstStyle/>
          <a:p>
            <a:fld id="{B11F4F02-D2E3-4344-93B4-5FDBFC14E748}" type="slidenum">
              <a:rPr lang="tr-TR" smtClean="0"/>
              <a:t>10</a:t>
            </a:fld>
            <a:endParaRPr lang="tr-TR"/>
          </a:p>
        </p:txBody>
      </p:sp>
    </p:spTree>
    <p:extLst>
      <p:ext uri="{BB962C8B-B14F-4D97-AF65-F5344CB8AC3E}">
        <p14:creationId xmlns:p14="http://schemas.microsoft.com/office/powerpoint/2010/main" val="329296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While analyzing the GAT structure, a brief idea came to our minds: the attention mechanism depends solely on node features, but not the edge attributes. In citation networks like Cora, this may be acceptable as edges are binary. However, in domains like social networks, </a:t>
            </a:r>
            <a:r>
              <a:rPr lang="en-US" dirty="0" err="1">
                <a:latin typeface="Calibri"/>
                <a:ea typeface="Calibri"/>
                <a:cs typeface="Calibri"/>
              </a:rPr>
              <a:t>chemistiry</a:t>
            </a:r>
            <a:r>
              <a:rPr lang="en-US" dirty="0">
                <a:latin typeface="Calibri"/>
                <a:ea typeface="Calibri"/>
                <a:cs typeface="Calibri"/>
              </a:rPr>
              <a:t>; edge features are important too. Our hypothesis is that incorporating edge embeddings directly into the attention scoring function will allow the model to differentiate neighbors not just by the node type but also how they are connected (edge type).</a:t>
            </a:r>
          </a:p>
        </p:txBody>
      </p:sp>
      <p:sp>
        <p:nvSpPr>
          <p:cNvPr id="4" name="Slide Number Placeholder 3"/>
          <p:cNvSpPr>
            <a:spLocks noGrp="1"/>
          </p:cNvSpPr>
          <p:nvPr>
            <p:ph type="sldNum" sz="quarter" idx="5"/>
          </p:nvPr>
        </p:nvSpPr>
        <p:spPr/>
        <p:txBody>
          <a:bodyPr/>
          <a:lstStyle/>
          <a:p>
            <a:fld id="{B11F4F02-D2E3-4344-93B4-5FDBFC14E748}" type="slidenum">
              <a:rPr lang="tr-TR" smtClean="0"/>
              <a:t>11</a:t>
            </a:fld>
            <a:endParaRPr lang="tr-TR"/>
          </a:p>
        </p:txBody>
      </p:sp>
    </p:spTree>
    <p:extLst>
      <p:ext uri="{BB962C8B-B14F-4D97-AF65-F5344CB8AC3E}">
        <p14:creationId xmlns:p14="http://schemas.microsoft.com/office/powerpoint/2010/main" val="1944908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To test our hypothesis, we switched our dataset as MUTAG dataset, which contains rich edge features to representing chemical bonds. In this dataset, nodes represents atoms, edges represents chemical bond. We mathematically extended the attention formula to perform a 3-way concatenation: Source Node, Target Node and the Edge Feature between them. </a:t>
            </a:r>
            <a:r>
              <a:rPr lang="en-US" dirty="0"/>
              <a:t>For implementation, we did not rely on pre-built layers. Instead, we created a custom layer inheriting from </a:t>
            </a:r>
            <a:r>
              <a:rPr lang="en-US" dirty="0" err="1"/>
              <a:t>MessagePassing</a:t>
            </a:r>
            <a:r>
              <a:rPr lang="en-US" dirty="0"/>
              <a:t> in </a:t>
            </a:r>
            <a:r>
              <a:rPr lang="en-US" dirty="0" err="1"/>
              <a:t>PyTorch</a:t>
            </a:r>
            <a:r>
              <a:rPr lang="en-US" dirty="0"/>
              <a:t> Geometric. We introduced a separate learnable linear projection for edge attributes and overrode the function to inject edge information into the attention computation before the </a:t>
            </a:r>
            <a:r>
              <a:rPr lang="en-US" dirty="0" err="1"/>
              <a:t>Softmax</a:t>
            </a:r>
            <a:r>
              <a:rPr lang="en-US" dirty="0"/>
              <a:t> normalization.</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B11F4F02-D2E3-4344-93B4-5FDBFC14E748}" type="slidenum">
              <a:rPr lang="tr-TR" smtClean="0"/>
              <a:t>12</a:t>
            </a:fld>
            <a:endParaRPr lang="tr-TR"/>
          </a:p>
        </p:txBody>
      </p:sp>
    </p:spTree>
    <p:extLst>
      <p:ext uri="{BB962C8B-B14F-4D97-AF65-F5344CB8AC3E}">
        <p14:creationId xmlns:p14="http://schemas.microsoft.com/office/powerpoint/2010/main" val="3310840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Since MUTAG data size is small(contains 187 graphs only), we used 10-Fold Cross Validation. </a:t>
            </a:r>
            <a:r>
              <a:rPr lang="en-US" dirty="0"/>
              <a:t>The results strongly support our hypothesis. The Baseline GAT(node-only) achieved 72.95%. Simply adding edge features using standard library functions improved this to 75.06%. However, our custom "From-Scratch" implementation, which optimizes the mathematical integration of edges into the attention mechanism, achieved the highest accuracy of 77.22%. This 4.27% improvement over the baseline is significant and proves that edge features are critical for graph classification in molecular tasks.</a:t>
            </a:r>
          </a:p>
          <a:p>
            <a:endParaRPr lang="en-US" dirty="0">
              <a:latin typeface="Aptos"/>
              <a:ea typeface="Calibri"/>
              <a:cs typeface="Calibri"/>
            </a:endParaRPr>
          </a:p>
          <a:p>
            <a:r>
              <a:rPr lang="en-US" dirty="0">
                <a:latin typeface="Aptos"/>
                <a:ea typeface="Calibri"/>
                <a:cs typeface="Calibri"/>
              </a:rPr>
              <a:t>Using larger dataset may increase the accuracy and presents the edge features importance better.</a:t>
            </a:r>
          </a:p>
        </p:txBody>
      </p:sp>
      <p:sp>
        <p:nvSpPr>
          <p:cNvPr id="4" name="Slide Number Placeholder 3"/>
          <p:cNvSpPr>
            <a:spLocks noGrp="1"/>
          </p:cNvSpPr>
          <p:nvPr>
            <p:ph type="sldNum" sz="quarter" idx="5"/>
          </p:nvPr>
        </p:nvSpPr>
        <p:spPr/>
        <p:txBody>
          <a:bodyPr/>
          <a:lstStyle/>
          <a:p>
            <a:fld id="{B11F4F02-D2E3-4344-93B4-5FDBFC14E748}" type="slidenum">
              <a:rPr lang="tr-TR" smtClean="0"/>
              <a:t>13</a:t>
            </a:fld>
            <a:endParaRPr lang="tr-TR"/>
          </a:p>
        </p:txBody>
      </p:sp>
    </p:spTree>
    <p:extLst>
      <p:ext uri="{BB962C8B-B14F-4D97-AF65-F5344CB8AC3E}">
        <p14:creationId xmlns:p14="http://schemas.microsoft.com/office/powerpoint/2010/main" val="1282938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b="0" dirty="0"/>
              <a:t>Critically analyzing the paper, we identified several strengths. First, its Inductive Capability: Unlike previous spectral methods like GCN, GAT can learn on one graph and apply that knowledge to completely new, unseen graphs. Second, Interpretability: The attention weights give us a 'window' into the model's decision-making, showing us exactly which neighbors are influencing the prediction.</a:t>
            </a:r>
            <a:endParaRPr lang="tr-TR" b="0" dirty="0"/>
          </a:p>
          <a:p>
            <a:endParaRPr lang="tr-TR" dirty="0"/>
          </a:p>
          <a:p>
            <a:r>
              <a:rPr lang="en-US" b="0" dirty="0"/>
              <a:t>However, GAT is not without limitations. The most significant one we encountered personally is Memory Intensity. Since GAT computes attention for every single edge, the memory usage scales with the number of edges, not just nodes. During our implementation, we faced 'Out of Memory' errors because the intermediate matrices for attention calculation became too large, forcing us to optimize the code. Additionally, the paper itself admits that efficient batching of these sparse graph operations is technically difficult compared to standard image processing.</a:t>
            </a:r>
            <a:endParaRPr lang="tr-TR" b="0" dirty="0"/>
          </a:p>
        </p:txBody>
      </p:sp>
      <p:sp>
        <p:nvSpPr>
          <p:cNvPr id="4" name="Slayt Numarası Yer Tutucusu 3"/>
          <p:cNvSpPr>
            <a:spLocks noGrp="1"/>
          </p:cNvSpPr>
          <p:nvPr>
            <p:ph type="sldNum" sz="quarter" idx="5"/>
          </p:nvPr>
        </p:nvSpPr>
        <p:spPr/>
        <p:txBody>
          <a:bodyPr/>
          <a:lstStyle/>
          <a:p>
            <a:fld id="{B11F4F02-D2E3-4344-93B4-5FDBFC14E748}" type="slidenum">
              <a:rPr lang="tr-TR" smtClean="0"/>
              <a:t>14</a:t>
            </a:fld>
            <a:endParaRPr lang="tr-TR"/>
          </a:p>
        </p:txBody>
      </p:sp>
    </p:spTree>
    <p:extLst>
      <p:ext uri="{BB962C8B-B14F-4D97-AF65-F5344CB8AC3E}">
        <p14:creationId xmlns:p14="http://schemas.microsoft.com/office/powerpoint/2010/main" val="294233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89C654-E62F-026C-E1E4-8064E1EE1816}"/>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96EA4023-1F9C-6811-899E-47307F135D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3A4F6FCE-DFDB-B68F-44F4-EA38F7A93344}"/>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5" name="Alt Bilgi Yer Tutucusu 4">
            <a:extLst>
              <a:ext uri="{FF2B5EF4-FFF2-40B4-BE49-F238E27FC236}">
                <a16:creationId xmlns:a16="http://schemas.microsoft.com/office/drawing/2014/main" id="{4B1F37EF-9E88-669D-A2FD-AA68C6F988B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4E756BD-5008-8ADB-27B5-6C54922527B3}"/>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3910829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6B1CC2-8952-5E14-5076-74AF89DDEC02}"/>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77E5BC9-7F5B-8B98-FC56-76556A5D657A}"/>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58292B3-EEB0-4F16-63E6-BF25238CA6C1}"/>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5" name="Alt Bilgi Yer Tutucusu 4">
            <a:extLst>
              <a:ext uri="{FF2B5EF4-FFF2-40B4-BE49-F238E27FC236}">
                <a16:creationId xmlns:a16="http://schemas.microsoft.com/office/drawing/2014/main" id="{C464589F-BDB0-4E65-7884-2A802C379DA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C6B1FDC-B81A-37FA-C0BA-1E7E78C1C92D}"/>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446656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13A96C0-AE17-B5B7-9DA8-5E13243EC5A7}"/>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0E802201-FA3F-5E56-06C1-55FE8D52CB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972521EF-5646-501A-9586-2DC930E86505}"/>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5" name="Alt Bilgi Yer Tutucusu 4">
            <a:extLst>
              <a:ext uri="{FF2B5EF4-FFF2-40B4-BE49-F238E27FC236}">
                <a16:creationId xmlns:a16="http://schemas.microsoft.com/office/drawing/2014/main" id="{B4D4BADD-9A4F-366E-DC58-1BB10C0178D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8F78F2D-85EF-5A09-16F1-30E7A9E1DBE7}"/>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1314060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A75A38-BAFC-385C-BE25-CDFD2CA26D79}"/>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3260188-A115-3077-3575-C134A432280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75CC5381-218D-FE7E-C8BA-C58A09219B24}"/>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969168F9-D144-CFC7-4F06-CB52A089BDE0}"/>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6" name="Alt Bilgi Yer Tutucusu 5">
            <a:extLst>
              <a:ext uri="{FF2B5EF4-FFF2-40B4-BE49-F238E27FC236}">
                <a16:creationId xmlns:a16="http://schemas.microsoft.com/office/drawing/2014/main" id="{47D4BA61-81E5-CCA1-755D-C003CA667DB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3159E80-CBBE-B1BD-695C-9D74C225FEEF}"/>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3187603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5D915D-37B6-C87D-0FC5-80D429E74A8D}"/>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A448FF9D-E06B-51A9-F614-B7127FB1D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948B0E4B-8D49-9E63-694E-4BD430E9DDF8}"/>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E826F9B9-3BDB-FEFE-EC11-811901CC13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EA6CA2B-41A4-0775-C033-4B82307A93A3}"/>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F9CE3BA9-1D5C-EAD4-77F6-B63A5F5CC190}"/>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8" name="Alt Bilgi Yer Tutucusu 7">
            <a:extLst>
              <a:ext uri="{FF2B5EF4-FFF2-40B4-BE49-F238E27FC236}">
                <a16:creationId xmlns:a16="http://schemas.microsoft.com/office/drawing/2014/main" id="{0BCAE45E-427C-9D3B-E1BA-F658ED79E6F2}"/>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58A9B639-BCB7-1729-7989-D4D1BFF61896}"/>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196178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E60CFB-3D86-211F-40C5-8B67A17356BB}"/>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6D951E76-E1ED-566F-AAFC-EACDA327BAB3}"/>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4" name="Alt Bilgi Yer Tutucusu 3">
            <a:extLst>
              <a:ext uri="{FF2B5EF4-FFF2-40B4-BE49-F238E27FC236}">
                <a16:creationId xmlns:a16="http://schemas.microsoft.com/office/drawing/2014/main" id="{97762756-BABA-A8F6-E785-B57ADFE20A11}"/>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EAB03844-0015-D99D-3027-43164286F35B}"/>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318455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6FB56C2B-09B7-C37E-0CB4-664EC2C9EC99}"/>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3" name="Alt Bilgi Yer Tutucusu 2">
            <a:extLst>
              <a:ext uri="{FF2B5EF4-FFF2-40B4-BE49-F238E27FC236}">
                <a16:creationId xmlns:a16="http://schemas.microsoft.com/office/drawing/2014/main" id="{9D434538-AF45-614F-AF4D-96F62441C32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9F05B9DC-D83E-0FAE-1A06-78CBC720473D}"/>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338905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F5E5D01-79E8-1356-E2CD-83AD6AC1D17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9CFBE0CB-9832-88AC-CFC2-EACCBF96F1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1500D9E8-9CC0-198A-2A0F-C2DDACF42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A9DB612-D2BB-B653-4D0B-F9927D526F80}"/>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6" name="Alt Bilgi Yer Tutucusu 5">
            <a:extLst>
              <a:ext uri="{FF2B5EF4-FFF2-40B4-BE49-F238E27FC236}">
                <a16:creationId xmlns:a16="http://schemas.microsoft.com/office/drawing/2014/main" id="{7A1F6A8B-7935-9C01-8DD1-AB6F3A2DC6C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E88EAB4-31AA-656A-2E21-856FE116A85A}"/>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2661891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2DDB76-A9CA-FD5B-D0CB-7ADCE3C6E65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EF738E32-80EF-BA17-40C2-2DB8A26E08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B1D598D4-E485-C3A8-EAA0-B848818AA6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48CFD75-F6F4-7F97-1BFD-8AA6AA35A774}"/>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6" name="Alt Bilgi Yer Tutucusu 5">
            <a:extLst>
              <a:ext uri="{FF2B5EF4-FFF2-40B4-BE49-F238E27FC236}">
                <a16:creationId xmlns:a16="http://schemas.microsoft.com/office/drawing/2014/main" id="{6622EDFD-05E4-8304-08F9-BA254EA5E81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D02BD94-A160-30C1-6657-62918D7C550B}"/>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1329149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04D72C7-0806-B6AC-B748-050BA1B5B2A9}"/>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9B42BEC2-71E9-41CF-4DC0-34117989A54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77E1F9E-D52C-DF70-9777-9AF1DFC5AE52}"/>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5" name="Alt Bilgi Yer Tutucusu 4">
            <a:extLst>
              <a:ext uri="{FF2B5EF4-FFF2-40B4-BE49-F238E27FC236}">
                <a16:creationId xmlns:a16="http://schemas.microsoft.com/office/drawing/2014/main" id="{763865F3-F0A4-DAB3-7260-D57682ADEF1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6DC1A3E-A51D-01C8-ADC7-2FD1396BF669}"/>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1430606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8DF990CF-B5FE-817F-4E74-7A8B3B2CBFFC}"/>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21027B6-590A-7092-D9B9-1AF0CBA9FD37}"/>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0DE91BC-4D1F-84D1-19AE-C2406988921E}"/>
              </a:ext>
            </a:extLst>
          </p:cNvPr>
          <p:cNvSpPr>
            <a:spLocks noGrp="1"/>
          </p:cNvSpPr>
          <p:nvPr>
            <p:ph type="dt" sz="half" idx="10"/>
          </p:nvPr>
        </p:nvSpPr>
        <p:spPr/>
        <p:txBody>
          <a:bodyPr/>
          <a:lstStyle/>
          <a:p>
            <a:fld id="{C52127BB-2D4F-4430-B5E0-BB3335C5F641}" type="datetimeFigureOut">
              <a:rPr lang="tr-TR" smtClean="0"/>
              <a:t>14.12.2025</a:t>
            </a:fld>
            <a:endParaRPr lang="tr-TR"/>
          </a:p>
        </p:txBody>
      </p:sp>
      <p:sp>
        <p:nvSpPr>
          <p:cNvPr id="5" name="Alt Bilgi Yer Tutucusu 4">
            <a:extLst>
              <a:ext uri="{FF2B5EF4-FFF2-40B4-BE49-F238E27FC236}">
                <a16:creationId xmlns:a16="http://schemas.microsoft.com/office/drawing/2014/main" id="{3EAC9A38-0B42-271D-1D68-FEC605FA248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03C203F-0951-0270-387C-1E0E1CDC67B3}"/>
              </a:ext>
            </a:extLst>
          </p:cNvPr>
          <p:cNvSpPr>
            <a:spLocks noGrp="1"/>
          </p:cNvSpPr>
          <p:nvPr>
            <p:ph type="sldNum" sz="quarter" idx="12"/>
          </p:nvPr>
        </p:nvSpPr>
        <p:spPr/>
        <p:txBody>
          <a:bodyPr/>
          <a:lstStyle/>
          <a:p>
            <a:fld id="{7615E296-F2D7-4A52-A205-A1561F93CAF4}" type="slidenum">
              <a:rPr lang="tr-TR" smtClean="0"/>
              <a:t>‹#›</a:t>
            </a:fld>
            <a:endParaRPr lang="tr-TR"/>
          </a:p>
        </p:txBody>
      </p:sp>
    </p:spTree>
    <p:extLst>
      <p:ext uri="{BB962C8B-B14F-4D97-AF65-F5344CB8AC3E}">
        <p14:creationId xmlns:p14="http://schemas.microsoft.com/office/powerpoint/2010/main" val="3097873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94B14870-FC7C-40D4-83C8-8669907FC7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2253A3B-DC08-99FA-29FA-60F7CC5B0D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6D5B2EA-CF29-8434-3647-E062778968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2127BB-2D4F-4430-B5E0-BB3335C5F641}" type="datetimeFigureOut">
              <a:rPr lang="tr-TR" smtClean="0"/>
              <a:t>14.12.2025</a:t>
            </a:fld>
            <a:endParaRPr lang="tr-TR"/>
          </a:p>
        </p:txBody>
      </p:sp>
      <p:sp>
        <p:nvSpPr>
          <p:cNvPr id="5" name="Alt Bilgi Yer Tutucusu 4">
            <a:extLst>
              <a:ext uri="{FF2B5EF4-FFF2-40B4-BE49-F238E27FC236}">
                <a16:creationId xmlns:a16="http://schemas.microsoft.com/office/drawing/2014/main" id="{9D0F42A6-40C0-4CEB-A903-2DADB3C94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5CA7B6E9-EED8-53C4-3623-D223C8F208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15E296-F2D7-4A52-A205-A1561F93CAF4}" type="slidenum">
              <a:rPr lang="tr-TR" smtClean="0"/>
              <a:t>‹#›</a:t>
            </a:fld>
            <a:endParaRPr lang="tr-TR"/>
          </a:p>
        </p:txBody>
      </p:sp>
    </p:spTree>
    <p:extLst>
      <p:ext uri="{BB962C8B-B14F-4D97-AF65-F5344CB8AC3E}">
        <p14:creationId xmlns:p14="http://schemas.microsoft.com/office/powerpoint/2010/main" val="1268739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tkipf.github.io/graph-convolutional-network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gemini.google.com/app?hl=tr" TargetMode="Externa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huggingface.co/datasets/graphs-datasets/MUTA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F00DA85-D305-3482-ABBF-F66429CC5ED5}"/>
              </a:ext>
            </a:extLst>
          </p:cNvPr>
          <p:cNvSpPr>
            <a:spLocks noGrp="1"/>
          </p:cNvSpPr>
          <p:nvPr>
            <p:ph type="ctrTitle"/>
          </p:nvPr>
        </p:nvSpPr>
        <p:spPr>
          <a:xfrm>
            <a:off x="838200" y="451381"/>
            <a:ext cx="10512552" cy="4066540"/>
          </a:xfrm>
        </p:spPr>
        <p:txBody>
          <a:bodyPr anchor="b">
            <a:normAutofit/>
          </a:bodyPr>
          <a:lstStyle/>
          <a:p>
            <a:pPr algn="l"/>
            <a:r>
              <a:rPr lang="tr-TR" sz="6600"/>
              <a:t>AIN 422 </a:t>
            </a:r>
            <a:br>
              <a:rPr lang="tr-TR" sz="6600"/>
            </a:br>
            <a:r>
              <a:rPr lang="tr-TR" sz="6600"/>
              <a:t>Second Article Presentation</a:t>
            </a:r>
            <a:br>
              <a:rPr lang="tr-TR" sz="6600"/>
            </a:br>
            <a:endParaRPr lang="tr-TR" sz="6600"/>
          </a:p>
        </p:txBody>
      </p:sp>
      <p:sp>
        <p:nvSpPr>
          <p:cNvPr id="3" name="Alt Başlık 2">
            <a:extLst>
              <a:ext uri="{FF2B5EF4-FFF2-40B4-BE49-F238E27FC236}">
                <a16:creationId xmlns:a16="http://schemas.microsoft.com/office/drawing/2014/main" id="{E7D00441-04F3-AF1C-A431-6394C2895B6C}"/>
              </a:ext>
            </a:extLst>
          </p:cNvPr>
          <p:cNvSpPr>
            <a:spLocks noGrp="1"/>
          </p:cNvSpPr>
          <p:nvPr>
            <p:ph type="subTitle" idx="1"/>
          </p:nvPr>
        </p:nvSpPr>
        <p:spPr>
          <a:xfrm>
            <a:off x="838199" y="4983276"/>
            <a:ext cx="10512552" cy="1126680"/>
          </a:xfrm>
        </p:spPr>
        <p:txBody>
          <a:bodyPr>
            <a:normAutofit/>
          </a:bodyPr>
          <a:lstStyle/>
          <a:p>
            <a:pPr algn="l"/>
            <a:r>
              <a:rPr lang="tr-TR"/>
              <a:t>Alper Mert </a:t>
            </a:r>
            <a:br>
              <a:rPr lang="tr-TR"/>
            </a:br>
            <a:r>
              <a:rPr lang="tr-TR"/>
              <a:t>Muhammet Batuhan Doğan</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3843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9BD24B-3BB9-6836-E74F-048EA6C3C4B8}"/>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Title &amp; Authors of the Paper</a:t>
            </a:r>
            <a:endParaRPr lang="tr-TR"/>
          </a:p>
        </p:txBody>
      </p:sp>
      <p:sp>
        <p:nvSpPr>
          <p:cNvPr id="3" name="İçerik Yer Tutucusu 2">
            <a:extLst>
              <a:ext uri="{FF2B5EF4-FFF2-40B4-BE49-F238E27FC236}">
                <a16:creationId xmlns:a16="http://schemas.microsoft.com/office/drawing/2014/main" id="{B4E08AE1-DB7C-432F-EBFB-143CF3266894}"/>
              </a:ext>
            </a:extLst>
          </p:cNvPr>
          <p:cNvSpPr>
            <a:spLocks noGrp="1"/>
          </p:cNvSpPr>
          <p:nvPr>
            <p:ph idx="1"/>
          </p:nvPr>
        </p:nvSpPr>
        <p:spPr>
          <a:xfrm>
            <a:off x="838200" y="5677318"/>
            <a:ext cx="10515600" cy="469499"/>
          </a:xfrm>
        </p:spPr>
        <p:txBody>
          <a:bodyPr>
            <a:normAutofit/>
          </a:bodyPr>
          <a:lstStyle/>
          <a:p>
            <a:pPr marL="0" indent="0">
              <a:buNone/>
            </a:pPr>
            <a:r>
              <a:rPr lang="tr-TR" sz="1000" i="1">
                <a:latin typeface="Calibri" panose="020F0502020204030204" pitchFamily="34" charset="0"/>
                <a:cs typeface="Calibri" panose="020F0502020204030204" pitchFamily="34" charset="0"/>
              </a:rPr>
              <a:t>Source: </a:t>
            </a:r>
            <a:r>
              <a:rPr lang="en-US" sz="1000" i="1">
                <a:latin typeface="Calibri" panose="020F0502020204030204" pitchFamily="34" charset="0"/>
                <a:cs typeface="Calibri" panose="020F0502020204030204" pitchFamily="34" charset="0"/>
              </a:rPr>
              <a:t>Screenshot from “</a:t>
            </a:r>
            <a:r>
              <a:rPr lang="tr-TR" sz="1000" i="1" err="1">
                <a:latin typeface="Calibri" panose="020F0502020204030204" pitchFamily="34" charset="0"/>
                <a:cs typeface="Calibri" panose="020F0502020204030204" pitchFamily="34" charset="0"/>
              </a:rPr>
              <a:t>Graph</a:t>
            </a:r>
            <a:r>
              <a:rPr lang="tr-TR" sz="1000" i="1">
                <a:latin typeface="Calibri" panose="020F0502020204030204" pitchFamily="34" charset="0"/>
                <a:cs typeface="Calibri" panose="020F0502020204030204" pitchFamily="34" charset="0"/>
              </a:rPr>
              <a:t> </a:t>
            </a:r>
            <a:r>
              <a:rPr lang="tr-TR" sz="1000" i="1" err="1">
                <a:latin typeface="Calibri" panose="020F0502020204030204" pitchFamily="34" charset="0"/>
                <a:cs typeface="Calibri" panose="020F0502020204030204" pitchFamily="34" charset="0"/>
              </a:rPr>
              <a:t>Attention</a:t>
            </a:r>
            <a:r>
              <a:rPr lang="tr-TR" sz="1000" i="1">
                <a:latin typeface="Calibri" panose="020F0502020204030204" pitchFamily="34" charset="0"/>
                <a:cs typeface="Calibri" panose="020F0502020204030204" pitchFamily="34" charset="0"/>
              </a:rPr>
              <a:t> Networks</a:t>
            </a:r>
            <a:r>
              <a:rPr lang="en-US" sz="1000" i="1">
                <a:latin typeface="Calibri" panose="020F0502020204030204" pitchFamily="34" charset="0"/>
                <a:cs typeface="Calibri" panose="020F0502020204030204" pitchFamily="34" charset="0"/>
              </a:rPr>
              <a:t>”</a:t>
            </a:r>
            <a:r>
              <a:rPr lang="tr-TR" sz="1000" i="1">
                <a:latin typeface="Calibri" panose="020F0502020204030204" pitchFamily="34" charset="0"/>
                <a:cs typeface="Calibri" panose="020F0502020204030204" pitchFamily="34" charset="0"/>
              </a:rPr>
              <a:t>,</a:t>
            </a:r>
            <a:r>
              <a:rPr lang="en-US" sz="1000" i="1">
                <a:latin typeface="Calibri" panose="020F0502020204030204" pitchFamily="34" charset="0"/>
                <a:cs typeface="Calibri" panose="020F0502020204030204" pitchFamily="34" charset="0"/>
              </a:rPr>
              <a:t> </a:t>
            </a:r>
            <a:r>
              <a:rPr lang="tr-TR" sz="1000" i="1">
                <a:latin typeface="Calibri" panose="020F0502020204030204" pitchFamily="34" charset="0"/>
                <a:cs typeface="Calibri" panose="020F0502020204030204" pitchFamily="34" charset="0"/>
              </a:rPr>
              <a:t>ICLR 2018</a:t>
            </a:r>
          </a:p>
          <a:p>
            <a:pPr marL="0" indent="0">
              <a:buNone/>
            </a:pPr>
            <a:endParaRPr lang="tr-TR" sz="1000" i="1"/>
          </a:p>
        </p:txBody>
      </p:sp>
      <p:pic>
        <p:nvPicPr>
          <p:cNvPr id="7" name="Resim 6" descr="metin, ekran görüntüsü, yazı tipi içeren bir resim&#10;&#10;Yapay zeka tarafından oluşturulmuş içerik yanlış olabilir.">
            <a:extLst>
              <a:ext uri="{FF2B5EF4-FFF2-40B4-BE49-F238E27FC236}">
                <a16:creationId xmlns:a16="http://schemas.microsoft.com/office/drawing/2014/main" id="{741F889D-C1D1-DCA8-48AD-2A5CD5C19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3330" y="1966452"/>
            <a:ext cx="7511844" cy="3116825"/>
          </a:xfrm>
          <a:prstGeom prst="rect">
            <a:avLst/>
          </a:prstGeom>
        </p:spPr>
      </p:pic>
    </p:spTree>
    <p:extLst>
      <p:ext uri="{BB962C8B-B14F-4D97-AF65-F5344CB8AC3E}">
        <p14:creationId xmlns:p14="http://schemas.microsoft.com/office/powerpoint/2010/main" val="523744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398F500-17B2-5B3D-E421-5166A4416D58}"/>
              </a:ext>
            </a:extLst>
          </p:cNvPr>
          <p:cNvSpPr>
            <a:spLocks noGrp="1"/>
          </p:cNvSpPr>
          <p:nvPr>
            <p:ph type="title"/>
          </p:nvPr>
        </p:nvSpPr>
        <p:spPr>
          <a:xfrm>
            <a:off x="686834" y="1153572"/>
            <a:ext cx="3200400" cy="4461163"/>
          </a:xfrm>
        </p:spPr>
        <p:txBody>
          <a:bodyPr>
            <a:normAutofit/>
          </a:bodyPr>
          <a:lstStyle/>
          <a:p>
            <a:r>
              <a:rPr lang="tr-TR">
                <a:solidFill>
                  <a:srgbClr val="FFFFFF"/>
                </a:solidFill>
              </a:rPr>
              <a:t>Motivation</a:t>
            </a:r>
          </a:p>
        </p:txBody>
      </p:sp>
      <p:sp>
        <p:nvSpPr>
          <p:cNvPr id="6"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F657160-070D-6BBD-FE6A-9C2BBB472AA7}"/>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tr-TR" sz="2400" err="1">
                <a:latin typeface="Calibri"/>
                <a:ea typeface="+mn-lt"/>
                <a:cs typeface="+mn-lt"/>
              </a:rPr>
              <a:t>Graphs</a:t>
            </a:r>
            <a:r>
              <a:rPr lang="tr-TR" sz="2400">
                <a:latin typeface="Calibri"/>
                <a:ea typeface="+mn-lt"/>
                <a:cs typeface="+mn-lt"/>
              </a:rPr>
              <a:t> </a:t>
            </a:r>
            <a:r>
              <a:rPr lang="tr-TR" sz="2400" err="1">
                <a:latin typeface="Calibri"/>
                <a:ea typeface="+mn-lt"/>
                <a:cs typeface="+mn-lt"/>
              </a:rPr>
              <a:t>are</a:t>
            </a:r>
            <a:r>
              <a:rPr lang="tr-TR" sz="2400">
                <a:latin typeface="Calibri"/>
                <a:ea typeface="+mn-lt"/>
                <a:cs typeface="+mn-lt"/>
              </a:rPr>
              <a:t> </a:t>
            </a:r>
            <a:r>
              <a:rPr lang="tr-TR" sz="2400" err="1">
                <a:latin typeface="Calibri"/>
                <a:ea typeface="+mn-lt"/>
                <a:cs typeface="+mn-lt"/>
              </a:rPr>
              <a:t>very</a:t>
            </a:r>
            <a:r>
              <a:rPr lang="tr-TR" sz="2400">
                <a:latin typeface="Calibri"/>
                <a:ea typeface="+mn-lt"/>
                <a:cs typeface="+mn-lt"/>
              </a:rPr>
              <a:t> popular.</a:t>
            </a:r>
          </a:p>
          <a:p>
            <a:r>
              <a:rPr lang="tr-TR" sz="2400" err="1">
                <a:latin typeface="Calibri"/>
                <a:ea typeface="+mn-lt"/>
                <a:cs typeface="+mn-lt"/>
              </a:rPr>
              <a:t>Attention</a:t>
            </a:r>
            <a:r>
              <a:rPr lang="tr-TR" sz="2400">
                <a:latin typeface="Calibri"/>
                <a:ea typeface="+mn-lt"/>
                <a:cs typeface="+mn-lt"/>
              </a:rPr>
              <a:t> </a:t>
            </a:r>
            <a:r>
              <a:rPr lang="tr-TR" sz="2400" err="1">
                <a:latin typeface="Calibri"/>
                <a:ea typeface="+mn-lt"/>
                <a:cs typeface="+mn-lt"/>
              </a:rPr>
              <a:t>mechanisms</a:t>
            </a:r>
            <a:r>
              <a:rPr lang="tr-TR" sz="2400">
                <a:latin typeface="Calibri"/>
                <a:ea typeface="+mn-lt"/>
                <a:cs typeface="+mn-lt"/>
              </a:rPr>
              <a:t> </a:t>
            </a:r>
            <a:r>
              <a:rPr lang="tr-TR" sz="2400" err="1">
                <a:latin typeface="Calibri"/>
                <a:ea typeface="+mn-lt"/>
                <a:cs typeface="+mn-lt"/>
              </a:rPr>
              <a:t>made</a:t>
            </a:r>
            <a:r>
              <a:rPr lang="tr-TR" sz="2400">
                <a:latin typeface="Calibri"/>
                <a:ea typeface="+mn-lt"/>
                <a:cs typeface="+mn-lt"/>
              </a:rPr>
              <a:t> </a:t>
            </a:r>
            <a:r>
              <a:rPr lang="tr-TR" sz="2400" err="1">
                <a:latin typeface="Calibri"/>
                <a:ea typeface="+mn-lt"/>
                <a:cs typeface="+mn-lt"/>
              </a:rPr>
              <a:t>huge</a:t>
            </a:r>
            <a:r>
              <a:rPr lang="tr-TR" sz="2400">
                <a:latin typeface="Calibri"/>
                <a:ea typeface="+mn-lt"/>
                <a:cs typeface="+mn-lt"/>
              </a:rPr>
              <a:t> </a:t>
            </a:r>
            <a:r>
              <a:rPr lang="tr-TR" sz="2400" err="1">
                <a:latin typeface="Calibri"/>
                <a:ea typeface="+mn-lt"/>
                <a:cs typeface="+mn-lt"/>
              </a:rPr>
              <a:t>impact</a:t>
            </a:r>
            <a:r>
              <a:rPr lang="tr-TR" sz="2400">
                <a:latin typeface="Calibri"/>
                <a:ea typeface="+mn-lt"/>
                <a:cs typeface="+mn-lt"/>
              </a:rPr>
              <a:t> on NLP/</a:t>
            </a:r>
            <a:r>
              <a:rPr lang="tr-TR" sz="2400" err="1">
                <a:latin typeface="Calibri"/>
                <a:ea typeface="+mn-lt"/>
                <a:cs typeface="+mn-lt"/>
              </a:rPr>
              <a:t>Deep</a:t>
            </a:r>
            <a:r>
              <a:rPr lang="tr-TR" sz="2400">
                <a:latin typeface="Calibri"/>
                <a:ea typeface="+mn-lt"/>
                <a:cs typeface="+mn-lt"/>
              </a:rPr>
              <a:t> Learning domain.</a:t>
            </a:r>
          </a:p>
          <a:p>
            <a:r>
              <a:rPr lang="tr-TR" sz="2400">
                <a:latin typeface="Calibri"/>
                <a:ea typeface="+mn-lt"/>
                <a:cs typeface="+mn-lt"/>
              </a:rPr>
              <a:t>GAT </a:t>
            </a:r>
            <a:r>
              <a:rPr lang="tr-TR" sz="2400" err="1">
                <a:latin typeface="Calibri"/>
                <a:ea typeface="+mn-lt"/>
                <a:cs typeface="+mn-lt"/>
              </a:rPr>
              <a:t>bridges</a:t>
            </a:r>
            <a:r>
              <a:rPr lang="tr-TR" sz="2400">
                <a:latin typeface="Calibri"/>
                <a:ea typeface="+mn-lt"/>
                <a:cs typeface="+mn-lt"/>
              </a:rPr>
              <a:t> </a:t>
            </a:r>
            <a:r>
              <a:rPr lang="tr-TR" sz="2400" err="1">
                <a:latin typeface="Calibri"/>
                <a:ea typeface="+mn-lt"/>
                <a:cs typeface="+mn-lt"/>
              </a:rPr>
              <a:t>the</a:t>
            </a:r>
            <a:r>
              <a:rPr lang="tr-TR" sz="2400">
                <a:latin typeface="Calibri"/>
                <a:ea typeface="+mn-lt"/>
                <a:cs typeface="+mn-lt"/>
              </a:rPr>
              <a:t> </a:t>
            </a:r>
            <a:r>
              <a:rPr lang="tr-TR" sz="2400" err="1">
                <a:latin typeface="Calibri"/>
                <a:ea typeface="+mn-lt"/>
                <a:cs typeface="+mn-lt"/>
              </a:rPr>
              <a:t>gap</a:t>
            </a:r>
            <a:r>
              <a:rPr lang="tr-TR" sz="2400">
                <a:latin typeface="Calibri"/>
                <a:ea typeface="+mn-lt"/>
                <a:cs typeface="+mn-lt"/>
              </a:rPr>
              <a:t> </a:t>
            </a:r>
            <a:r>
              <a:rPr lang="tr-TR" sz="2400" err="1">
                <a:latin typeface="Calibri"/>
                <a:ea typeface="+mn-lt"/>
                <a:cs typeface="+mn-lt"/>
              </a:rPr>
              <a:t>between</a:t>
            </a:r>
            <a:r>
              <a:rPr lang="tr-TR" sz="2400">
                <a:latin typeface="Calibri"/>
                <a:ea typeface="+mn-lt"/>
                <a:cs typeface="+mn-lt"/>
              </a:rPr>
              <a:t> </a:t>
            </a:r>
            <a:r>
              <a:rPr lang="tr-TR" sz="2400" err="1">
                <a:latin typeface="Calibri"/>
                <a:ea typeface="+mn-lt"/>
                <a:cs typeface="+mn-lt"/>
              </a:rPr>
              <a:t>Graph</a:t>
            </a:r>
            <a:r>
              <a:rPr lang="tr-TR" sz="2400">
                <a:latin typeface="Calibri"/>
                <a:ea typeface="+mn-lt"/>
                <a:cs typeface="+mn-lt"/>
              </a:rPr>
              <a:t> </a:t>
            </a:r>
            <a:r>
              <a:rPr lang="tr-TR" sz="2400" err="1">
                <a:latin typeface="Calibri"/>
                <a:ea typeface="+mn-lt"/>
                <a:cs typeface="+mn-lt"/>
              </a:rPr>
              <a:t>Neural</a:t>
            </a:r>
            <a:r>
              <a:rPr lang="tr-TR" sz="2400">
                <a:latin typeface="Calibri"/>
                <a:ea typeface="+mn-lt"/>
                <a:cs typeface="+mn-lt"/>
              </a:rPr>
              <a:t> Networks (GNN) </a:t>
            </a:r>
            <a:r>
              <a:rPr lang="tr-TR" sz="2400" err="1">
                <a:latin typeface="Calibri"/>
                <a:ea typeface="+mn-lt"/>
                <a:cs typeface="+mn-lt"/>
              </a:rPr>
              <a:t>and</a:t>
            </a:r>
            <a:r>
              <a:rPr lang="tr-TR" sz="2400">
                <a:latin typeface="Calibri"/>
                <a:ea typeface="+mn-lt"/>
                <a:cs typeface="+mn-lt"/>
              </a:rPr>
              <a:t> </a:t>
            </a:r>
            <a:r>
              <a:rPr lang="tr-TR" sz="2400" err="1">
                <a:latin typeface="Calibri"/>
                <a:ea typeface="+mn-lt"/>
                <a:cs typeface="+mn-lt"/>
              </a:rPr>
              <a:t>Attention</a:t>
            </a:r>
            <a:r>
              <a:rPr lang="tr-TR" sz="2400">
                <a:latin typeface="Calibri"/>
                <a:ea typeface="+mn-lt"/>
                <a:cs typeface="+mn-lt"/>
              </a:rPr>
              <a:t>.</a:t>
            </a:r>
          </a:p>
          <a:p>
            <a:endParaRPr lang="tr-TR" sz="2400">
              <a:latin typeface="Calibri"/>
              <a:ea typeface="+mn-lt"/>
              <a:cs typeface="+mn-lt"/>
            </a:endParaRPr>
          </a:p>
        </p:txBody>
      </p:sp>
    </p:spTree>
    <p:extLst>
      <p:ext uri="{BB962C8B-B14F-4D97-AF65-F5344CB8AC3E}">
        <p14:creationId xmlns:p14="http://schemas.microsoft.com/office/powerpoint/2010/main" val="1948031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876C7FA-2ABE-49A6-E2F0-2D5526837DBD}"/>
              </a:ext>
            </a:extLst>
          </p:cNvPr>
          <p:cNvSpPr>
            <a:spLocks noGrp="1"/>
          </p:cNvSpPr>
          <p:nvPr>
            <p:ph type="title"/>
          </p:nvPr>
        </p:nvSpPr>
        <p:spPr>
          <a:xfrm>
            <a:off x="630936" y="639520"/>
            <a:ext cx="3429000" cy="1719072"/>
          </a:xfrm>
        </p:spPr>
        <p:txBody>
          <a:bodyPr anchor="b">
            <a:normAutofit/>
          </a:bodyPr>
          <a:lstStyle/>
          <a:p>
            <a:r>
              <a:rPr lang="tr-TR" sz="5400"/>
              <a:t>Problem Statement</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B2F96327-8B94-CF1C-0AD0-25C81328CDFE}"/>
              </a:ext>
            </a:extLst>
          </p:cNvPr>
          <p:cNvSpPr>
            <a:spLocks noGrp="1"/>
          </p:cNvSpPr>
          <p:nvPr>
            <p:ph idx="1"/>
          </p:nvPr>
        </p:nvSpPr>
        <p:spPr>
          <a:xfrm>
            <a:off x="630936" y="2807208"/>
            <a:ext cx="3429000" cy="3410712"/>
          </a:xfrm>
        </p:spPr>
        <p:txBody>
          <a:bodyPr vert="horz" lIns="91440" tIns="45720" rIns="91440" bIns="45720" rtlCol="0" anchor="t">
            <a:normAutofit lnSpcReduction="10000"/>
          </a:bodyPr>
          <a:lstStyle/>
          <a:p>
            <a:r>
              <a:rPr lang="tr-TR" sz="2200" err="1">
                <a:latin typeface="Calibri"/>
                <a:ea typeface="Calibri"/>
                <a:cs typeface="Calibri"/>
              </a:rPr>
              <a:t>Previous</a:t>
            </a:r>
            <a:r>
              <a:rPr lang="tr-TR" sz="2200">
                <a:latin typeface="Calibri"/>
                <a:ea typeface="Calibri"/>
                <a:cs typeface="Calibri"/>
              </a:rPr>
              <a:t> model -&gt; </a:t>
            </a:r>
            <a:r>
              <a:rPr lang="tr-TR" sz="2200" err="1">
                <a:latin typeface="Calibri"/>
                <a:ea typeface="Calibri"/>
                <a:cs typeface="Calibri"/>
              </a:rPr>
              <a:t>Graph</a:t>
            </a:r>
            <a:r>
              <a:rPr lang="tr-TR" sz="2200">
                <a:latin typeface="Calibri"/>
                <a:ea typeface="Calibri"/>
                <a:cs typeface="Calibri"/>
              </a:rPr>
              <a:t> </a:t>
            </a:r>
            <a:r>
              <a:rPr lang="tr-TR" sz="2200" err="1">
                <a:latin typeface="Calibri"/>
                <a:ea typeface="Calibri"/>
                <a:cs typeface="Calibri"/>
              </a:rPr>
              <a:t>Convolutional</a:t>
            </a:r>
            <a:r>
              <a:rPr lang="tr-TR" sz="2200">
                <a:latin typeface="Calibri"/>
                <a:ea typeface="Calibri"/>
                <a:cs typeface="Calibri"/>
              </a:rPr>
              <a:t> Networks (GCN). (</a:t>
            </a:r>
            <a:r>
              <a:rPr lang="tr-TR" sz="2200" err="1">
                <a:ea typeface="+mn-lt"/>
                <a:cs typeface="+mn-lt"/>
              </a:rPr>
              <a:t>Kipf</a:t>
            </a:r>
            <a:r>
              <a:rPr lang="tr-TR" sz="2200">
                <a:ea typeface="+mn-lt"/>
                <a:cs typeface="+mn-lt"/>
              </a:rPr>
              <a:t> &amp; </a:t>
            </a:r>
            <a:r>
              <a:rPr lang="tr-TR" sz="2200" err="1">
                <a:ea typeface="+mn-lt"/>
                <a:cs typeface="+mn-lt"/>
              </a:rPr>
              <a:t>Welling</a:t>
            </a:r>
            <a:r>
              <a:rPr lang="tr-TR" sz="2200">
                <a:ea typeface="+mn-lt"/>
                <a:cs typeface="+mn-lt"/>
              </a:rPr>
              <a:t>, 2017</a:t>
            </a:r>
            <a:r>
              <a:rPr lang="tr-TR" sz="2200">
                <a:latin typeface="Calibri"/>
                <a:ea typeface="Calibri"/>
                <a:cs typeface="Calibri"/>
              </a:rPr>
              <a:t>)</a:t>
            </a:r>
          </a:p>
          <a:p>
            <a:r>
              <a:rPr lang="tr-TR" sz="2200">
                <a:latin typeface="Calibri"/>
                <a:ea typeface="Calibri"/>
                <a:cs typeface="Calibri"/>
              </a:rPr>
              <a:t>GCN </a:t>
            </a:r>
            <a:r>
              <a:rPr lang="tr-TR" sz="2200" err="1">
                <a:latin typeface="Calibri"/>
                <a:ea typeface="Calibri"/>
                <a:cs typeface="Calibri"/>
              </a:rPr>
              <a:t>treats</a:t>
            </a:r>
            <a:r>
              <a:rPr lang="tr-TR" sz="2200">
                <a:latin typeface="Calibri"/>
                <a:ea typeface="Calibri"/>
                <a:cs typeface="Calibri"/>
              </a:rPr>
              <a:t> </a:t>
            </a:r>
            <a:r>
              <a:rPr lang="tr-TR" sz="2200" err="1">
                <a:latin typeface="Calibri"/>
                <a:ea typeface="Calibri"/>
                <a:cs typeface="Calibri"/>
              </a:rPr>
              <a:t>all</a:t>
            </a:r>
            <a:r>
              <a:rPr lang="tr-TR" sz="2200">
                <a:latin typeface="Calibri"/>
                <a:ea typeface="Calibri"/>
                <a:cs typeface="Calibri"/>
              </a:rPr>
              <a:t> </a:t>
            </a:r>
            <a:r>
              <a:rPr lang="tr-TR" sz="2200" err="1">
                <a:latin typeface="Calibri"/>
                <a:ea typeface="Calibri"/>
                <a:cs typeface="Calibri"/>
              </a:rPr>
              <a:t>neighbors</a:t>
            </a:r>
            <a:r>
              <a:rPr lang="tr-TR" sz="2200">
                <a:latin typeface="Calibri"/>
                <a:ea typeface="Calibri"/>
                <a:cs typeface="Calibri"/>
              </a:rPr>
              <a:t> </a:t>
            </a:r>
            <a:r>
              <a:rPr lang="tr-TR" sz="2200" err="1">
                <a:latin typeface="Calibri"/>
                <a:ea typeface="Calibri"/>
                <a:cs typeface="Calibri"/>
              </a:rPr>
              <a:t>equally</a:t>
            </a:r>
            <a:r>
              <a:rPr lang="tr-TR" sz="2200">
                <a:latin typeface="Calibri"/>
                <a:ea typeface="Calibri"/>
                <a:cs typeface="Calibri"/>
              </a:rPr>
              <a:t> (</a:t>
            </a:r>
            <a:r>
              <a:rPr lang="tr-TR" sz="2200" err="1">
                <a:latin typeface="Calibri"/>
                <a:ea typeface="Calibri"/>
                <a:cs typeface="Calibri"/>
              </a:rPr>
              <a:t>isotropic</a:t>
            </a:r>
            <a:r>
              <a:rPr lang="tr-TR" sz="2200">
                <a:latin typeface="Calibri"/>
                <a:ea typeface="Calibri"/>
                <a:cs typeface="Calibri"/>
              </a:rPr>
              <a:t>).</a:t>
            </a:r>
          </a:p>
          <a:p>
            <a:r>
              <a:rPr lang="tr-TR" sz="2200">
                <a:latin typeface="Calibri"/>
                <a:ea typeface="Calibri"/>
                <a:cs typeface="Calibri"/>
              </a:rPr>
              <a:t>GAT </a:t>
            </a:r>
            <a:r>
              <a:rPr lang="tr-TR" sz="2200" err="1">
                <a:latin typeface="Calibri"/>
                <a:ea typeface="Calibri"/>
                <a:cs typeface="Calibri"/>
              </a:rPr>
              <a:t>solution</a:t>
            </a:r>
            <a:r>
              <a:rPr lang="tr-TR" sz="2200">
                <a:latin typeface="Calibri"/>
                <a:ea typeface="Calibri"/>
                <a:cs typeface="Calibri"/>
              </a:rPr>
              <a:t>: Learning </a:t>
            </a:r>
            <a:r>
              <a:rPr lang="tr-TR" sz="2200" err="1">
                <a:latin typeface="Calibri"/>
                <a:ea typeface="Calibri"/>
                <a:cs typeface="Calibri"/>
              </a:rPr>
              <a:t>to</a:t>
            </a:r>
            <a:r>
              <a:rPr lang="tr-TR" sz="2200">
                <a:latin typeface="Calibri"/>
                <a:ea typeface="Calibri"/>
                <a:cs typeface="Calibri"/>
              </a:rPr>
              <a:t> </a:t>
            </a:r>
            <a:r>
              <a:rPr lang="tr-TR" sz="2200" err="1">
                <a:latin typeface="Calibri"/>
                <a:ea typeface="Calibri"/>
                <a:cs typeface="Calibri"/>
              </a:rPr>
              <a:t>assign</a:t>
            </a:r>
            <a:r>
              <a:rPr lang="tr-TR" sz="2200">
                <a:latin typeface="Calibri"/>
                <a:ea typeface="Calibri"/>
                <a:cs typeface="Calibri"/>
              </a:rPr>
              <a:t> </a:t>
            </a:r>
            <a:r>
              <a:rPr lang="tr-TR" sz="2200" err="1">
                <a:latin typeface="Calibri"/>
                <a:ea typeface="Calibri"/>
                <a:cs typeface="Calibri"/>
              </a:rPr>
              <a:t>different</a:t>
            </a:r>
            <a:r>
              <a:rPr lang="tr-TR" sz="2200">
                <a:latin typeface="Calibri"/>
                <a:ea typeface="Calibri"/>
                <a:cs typeface="Calibri"/>
              </a:rPr>
              <a:t> </a:t>
            </a:r>
            <a:r>
              <a:rPr lang="tr-TR" sz="2200" err="1">
                <a:latin typeface="Calibri"/>
                <a:ea typeface="Calibri"/>
                <a:cs typeface="Calibri"/>
              </a:rPr>
              <a:t>importance</a:t>
            </a:r>
            <a:r>
              <a:rPr lang="tr-TR" sz="2200">
                <a:latin typeface="Calibri"/>
                <a:ea typeface="Calibri"/>
                <a:cs typeface="Calibri"/>
              </a:rPr>
              <a:t> </a:t>
            </a:r>
            <a:r>
              <a:rPr lang="tr-TR" sz="2200" err="1">
                <a:latin typeface="Calibri"/>
                <a:ea typeface="Calibri"/>
                <a:cs typeface="Calibri"/>
              </a:rPr>
              <a:t>weights</a:t>
            </a:r>
            <a:r>
              <a:rPr lang="tr-TR" sz="2200">
                <a:latin typeface="Calibri"/>
                <a:ea typeface="Calibri"/>
                <a:cs typeface="Calibri"/>
              </a:rPr>
              <a:t> </a:t>
            </a:r>
            <a:r>
              <a:rPr lang="tr-TR" sz="2200" err="1">
                <a:latin typeface="Calibri"/>
                <a:ea typeface="Calibri"/>
                <a:cs typeface="Calibri"/>
              </a:rPr>
              <a:t>to</a:t>
            </a:r>
            <a:r>
              <a:rPr lang="tr-TR" sz="2200">
                <a:latin typeface="Calibri"/>
                <a:ea typeface="Calibri"/>
                <a:cs typeface="Calibri"/>
              </a:rPr>
              <a:t> </a:t>
            </a:r>
            <a:r>
              <a:rPr lang="tr-TR" sz="2200" err="1">
                <a:latin typeface="Calibri"/>
                <a:ea typeface="Calibri"/>
                <a:cs typeface="Calibri"/>
              </a:rPr>
              <a:t>different</a:t>
            </a:r>
            <a:r>
              <a:rPr lang="tr-TR" sz="2200">
                <a:latin typeface="Calibri"/>
                <a:ea typeface="Calibri"/>
                <a:cs typeface="Calibri"/>
              </a:rPr>
              <a:t> </a:t>
            </a:r>
            <a:r>
              <a:rPr lang="tr-TR" sz="2200" err="1">
                <a:latin typeface="Calibri"/>
                <a:ea typeface="Calibri"/>
                <a:cs typeface="Calibri"/>
              </a:rPr>
              <a:t>neighbors</a:t>
            </a:r>
            <a:r>
              <a:rPr lang="tr-TR" sz="2200">
                <a:latin typeface="Calibri"/>
                <a:ea typeface="Calibri"/>
                <a:cs typeface="Calibri"/>
              </a:rPr>
              <a:t> (</a:t>
            </a:r>
            <a:r>
              <a:rPr lang="tr-TR" sz="2200" err="1">
                <a:latin typeface="Calibri"/>
                <a:ea typeface="Calibri"/>
                <a:cs typeface="Calibri"/>
              </a:rPr>
              <a:t>anisotropy</a:t>
            </a:r>
            <a:r>
              <a:rPr lang="tr-TR" sz="2200">
                <a:latin typeface="Calibri"/>
                <a:ea typeface="Calibri"/>
                <a:cs typeface="Calibri"/>
              </a:rPr>
              <a:t>).</a:t>
            </a:r>
          </a:p>
        </p:txBody>
      </p:sp>
      <p:pic>
        <p:nvPicPr>
          <p:cNvPr id="4" name="Resim 3" descr="diyagram, metin, ekran görüntüsü, çizgi içeren bir resim&#10;&#10;Yapay zeka tarafından oluşturulmuş içerik yanlış olabilir.">
            <a:extLst>
              <a:ext uri="{FF2B5EF4-FFF2-40B4-BE49-F238E27FC236}">
                <a16:creationId xmlns:a16="http://schemas.microsoft.com/office/drawing/2014/main" id="{080FB3D2-C31E-1E93-27C6-AACF79DAB039}"/>
              </a:ext>
            </a:extLst>
          </p:cNvPr>
          <p:cNvPicPr>
            <a:picLocks noChangeAspect="1"/>
          </p:cNvPicPr>
          <p:nvPr/>
        </p:nvPicPr>
        <p:blipFill>
          <a:blip r:embed="rId3"/>
          <a:stretch>
            <a:fillRect/>
          </a:stretch>
        </p:blipFill>
        <p:spPr>
          <a:xfrm>
            <a:off x="4654296" y="1642663"/>
            <a:ext cx="6903720" cy="3572674"/>
          </a:xfrm>
          <a:prstGeom prst="rect">
            <a:avLst/>
          </a:prstGeom>
        </p:spPr>
      </p:pic>
      <p:sp>
        <p:nvSpPr>
          <p:cNvPr id="5" name="Metin kutusu 4">
            <a:extLst>
              <a:ext uri="{FF2B5EF4-FFF2-40B4-BE49-F238E27FC236}">
                <a16:creationId xmlns:a16="http://schemas.microsoft.com/office/drawing/2014/main" id="{8C0BB9F0-A098-99D6-3DC4-939A9B15906F}"/>
              </a:ext>
            </a:extLst>
          </p:cNvPr>
          <p:cNvSpPr txBox="1"/>
          <p:nvPr/>
        </p:nvSpPr>
        <p:spPr>
          <a:xfrm>
            <a:off x="4688416" y="5333999"/>
            <a:ext cx="686858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000" i="1">
                <a:latin typeface="Calibri"/>
                <a:ea typeface="Calibri"/>
                <a:cs typeface="Calibri"/>
              </a:rPr>
              <a:t>Source: </a:t>
            </a:r>
            <a:r>
              <a:rPr lang="tr-TR" sz="1000" i="1">
                <a:latin typeface="Calibri"/>
                <a:ea typeface="+mn-lt"/>
                <a:cs typeface="+mn-lt"/>
                <a:hlinkClick r:id="rId4"/>
              </a:rPr>
              <a:t>Graph Convolutional Networks | Thomas Kipf | Google DeepMind</a:t>
            </a:r>
            <a:endParaRPr lang="tr-TR" sz="1000" i="1">
              <a:latin typeface="Calibri"/>
            </a:endParaRPr>
          </a:p>
        </p:txBody>
      </p:sp>
    </p:spTree>
    <p:extLst>
      <p:ext uri="{BB962C8B-B14F-4D97-AF65-F5344CB8AC3E}">
        <p14:creationId xmlns:p14="http://schemas.microsoft.com/office/powerpoint/2010/main" val="7337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35F14A0-5F6D-069D-6CEA-C394CE730ECA}"/>
              </a:ext>
            </a:extLst>
          </p:cNvPr>
          <p:cNvSpPr>
            <a:spLocks noGrp="1"/>
          </p:cNvSpPr>
          <p:nvPr>
            <p:ph type="title"/>
          </p:nvPr>
        </p:nvSpPr>
        <p:spPr>
          <a:xfrm>
            <a:off x="836679" y="723898"/>
            <a:ext cx="6002110" cy="1495425"/>
          </a:xfrm>
        </p:spPr>
        <p:txBody>
          <a:bodyPr>
            <a:normAutofit/>
          </a:bodyPr>
          <a:lstStyle/>
          <a:p>
            <a:r>
              <a:rPr lang="tr-TR" sz="4000" err="1"/>
              <a:t>Methodology</a:t>
            </a:r>
          </a:p>
        </p:txBody>
      </p:sp>
      <p:sp>
        <p:nvSpPr>
          <p:cNvPr id="8" name="Content Placeholder 7">
            <a:extLst>
              <a:ext uri="{FF2B5EF4-FFF2-40B4-BE49-F238E27FC236}">
                <a16:creationId xmlns:a16="http://schemas.microsoft.com/office/drawing/2014/main" id="{A41B212D-800F-9670-161F-95331C2A3E56}"/>
              </a:ext>
            </a:extLst>
          </p:cNvPr>
          <p:cNvSpPr>
            <a:spLocks noGrp="1"/>
          </p:cNvSpPr>
          <p:nvPr>
            <p:ph idx="1"/>
          </p:nvPr>
        </p:nvSpPr>
        <p:spPr>
          <a:xfrm>
            <a:off x="836680" y="2405067"/>
            <a:ext cx="6002110" cy="3729034"/>
          </a:xfrm>
        </p:spPr>
        <p:txBody>
          <a:bodyPr vert="horz" lIns="91440" tIns="45720" rIns="91440" bIns="45720" rtlCol="0" anchor="t">
            <a:normAutofit/>
          </a:bodyPr>
          <a:lstStyle/>
          <a:p>
            <a:r>
              <a:rPr lang="en-US" sz="2400">
                <a:latin typeface="Calibri"/>
                <a:ea typeface="Calibri"/>
                <a:cs typeface="Calibri"/>
              </a:rPr>
              <a:t>The Attention mechanism:</a:t>
            </a:r>
            <a:endParaRPr lang="tr-TR" sz="2400">
              <a:latin typeface="Calibri"/>
              <a:ea typeface="Calibri"/>
              <a:cs typeface="Calibri"/>
            </a:endParaRPr>
          </a:p>
          <a:p>
            <a:r>
              <a:rPr lang="en-US" sz="2400">
                <a:latin typeface="Calibri"/>
                <a:ea typeface="Calibri"/>
                <a:cs typeface="Calibri"/>
              </a:rPr>
              <a:t>Steps:</a:t>
            </a:r>
          </a:p>
          <a:p>
            <a:pPr marL="800100" lvl="1">
              <a:buFont typeface="Courier New" panose="020B0604020202020204" pitchFamily="34" charset="0"/>
              <a:buChar char="o"/>
            </a:pPr>
            <a:r>
              <a:rPr lang="en-US" sz="2000">
                <a:latin typeface="Calibri"/>
                <a:ea typeface="Calibri"/>
                <a:cs typeface="Calibri"/>
              </a:rPr>
              <a:t>Linear Transformation (W): Applied to every node.</a:t>
            </a:r>
          </a:p>
          <a:p>
            <a:pPr marL="800100" lvl="1">
              <a:buFont typeface="Courier New" panose="020B0604020202020204" pitchFamily="34" charset="0"/>
              <a:buChar char="o"/>
            </a:pPr>
            <a:r>
              <a:rPr lang="en-US" sz="2000">
                <a:latin typeface="Calibri"/>
                <a:ea typeface="Calibri"/>
                <a:cs typeface="Calibri"/>
              </a:rPr>
              <a:t>Concatenation: </a:t>
            </a:r>
            <a:r>
              <a:rPr lang="en-US" sz="2000">
                <a:latin typeface="Calibri"/>
                <a:ea typeface="+mn-lt"/>
                <a:cs typeface="+mn-lt"/>
              </a:rPr>
              <a:t>Combining source and target node features.</a:t>
            </a:r>
            <a:endParaRPr lang="en-US" sz="2000">
              <a:latin typeface="Calibri"/>
              <a:ea typeface="Calibri"/>
              <a:cs typeface="Calibri"/>
            </a:endParaRPr>
          </a:p>
          <a:p>
            <a:pPr marL="800100" lvl="1">
              <a:buFont typeface="Courier New" panose="020B0604020202020204" pitchFamily="34" charset="0"/>
              <a:buChar char="o"/>
            </a:pPr>
            <a:r>
              <a:rPr lang="en-US" sz="2000">
                <a:latin typeface="Calibri"/>
              </a:rPr>
              <a:t>Normalization: Softmax</a:t>
            </a:r>
            <a:endParaRPr lang="en-US" sz="2000">
              <a:latin typeface="Calibri"/>
              <a:ea typeface="Calibri"/>
              <a:cs typeface="Calibri"/>
            </a:endParaRPr>
          </a:p>
          <a:p>
            <a:pPr marL="342900" indent="-342900"/>
            <a:r>
              <a:rPr lang="en-US" sz="2400">
                <a:latin typeface="Calibri"/>
                <a:ea typeface="Calibri"/>
                <a:cs typeface="Calibri"/>
              </a:rPr>
              <a:t>Multi-Head Attention: Using K independent attention heads to stabilize learning.</a:t>
            </a:r>
          </a:p>
          <a:p>
            <a:endParaRPr lang="tr-TR">
              <a:latin typeface="Aptos" panose="02110004020202020204"/>
              <a:ea typeface="Calibri"/>
              <a:cs typeface="Calibri"/>
            </a:endParaRPr>
          </a:p>
        </p:txBody>
      </p:sp>
      <p:pic>
        <p:nvPicPr>
          <p:cNvPr id="4" name="İçerik Yer Tutucusu 3" descr="metin, kalıp, desen, düzen, işleme içeren bir resim&#10;&#10;Yapay zeka tarafından oluşturulmuş içerik yanlış olabilir.">
            <a:extLst>
              <a:ext uri="{FF2B5EF4-FFF2-40B4-BE49-F238E27FC236}">
                <a16:creationId xmlns:a16="http://schemas.microsoft.com/office/drawing/2014/main" id="{F825166D-14E2-DB23-20D0-9F1053994C13}"/>
              </a:ext>
            </a:extLst>
          </p:cNvPr>
          <p:cNvPicPr>
            <a:picLocks noChangeAspect="1"/>
          </p:cNvPicPr>
          <p:nvPr/>
        </p:nvPicPr>
        <p:blipFill>
          <a:blip r:embed="rId3"/>
          <a:srcRect r="2" b="413"/>
          <a:stretch>
            <a:fillRect/>
          </a:stretch>
        </p:blipFill>
        <p:spPr>
          <a:xfrm>
            <a:off x="7199440" y="10"/>
            <a:ext cx="4992560" cy="6857990"/>
          </a:xfrm>
          <a:prstGeom prst="rect">
            <a:avLst/>
          </a:prstGeom>
          <a:effectLst/>
        </p:spPr>
      </p:pic>
      <p:sp>
        <p:nvSpPr>
          <p:cNvPr id="5" name="Metin kutusu 4">
            <a:extLst>
              <a:ext uri="{FF2B5EF4-FFF2-40B4-BE49-F238E27FC236}">
                <a16:creationId xmlns:a16="http://schemas.microsoft.com/office/drawing/2014/main" id="{D78B9AC4-545E-46DE-817C-A933A0422A19}"/>
              </a:ext>
            </a:extLst>
          </p:cNvPr>
          <p:cNvSpPr txBox="1"/>
          <p:nvPr/>
        </p:nvSpPr>
        <p:spPr>
          <a:xfrm>
            <a:off x="7535333" y="6561666"/>
            <a:ext cx="43180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000" i="1">
                <a:latin typeface="Calibri"/>
                <a:ea typeface="Calibri"/>
                <a:cs typeface="Calibri"/>
              </a:rPr>
              <a:t>Source: </a:t>
            </a:r>
            <a:r>
              <a:rPr lang="tr-TR" sz="1000" i="1">
                <a:latin typeface="Calibri"/>
                <a:ea typeface="+mn-lt"/>
                <a:cs typeface="+mn-lt"/>
                <a:hlinkClick r:id="rId4"/>
              </a:rPr>
              <a:t>Google Gemini</a:t>
            </a:r>
            <a:endParaRPr lang="tr-TR" sz="1000" i="1">
              <a:latin typeface="Calibri"/>
            </a:endParaRPr>
          </a:p>
        </p:txBody>
      </p:sp>
      <p:pic>
        <p:nvPicPr>
          <p:cNvPr id="6" name="Resim 5">
            <a:extLst>
              <a:ext uri="{FF2B5EF4-FFF2-40B4-BE49-F238E27FC236}">
                <a16:creationId xmlns:a16="http://schemas.microsoft.com/office/drawing/2014/main" id="{7304C374-0BED-3C17-79A8-2ECEAEFAB6A0}"/>
              </a:ext>
            </a:extLst>
          </p:cNvPr>
          <p:cNvPicPr>
            <a:picLocks noChangeAspect="1"/>
          </p:cNvPicPr>
          <p:nvPr/>
        </p:nvPicPr>
        <p:blipFill>
          <a:blip r:embed="rId5"/>
          <a:stretch>
            <a:fillRect/>
          </a:stretch>
        </p:blipFill>
        <p:spPr>
          <a:xfrm>
            <a:off x="4449763" y="2491316"/>
            <a:ext cx="2847975" cy="266700"/>
          </a:xfrm>
          <a:prstGeom prst="rect">
            <a:avLst/>
          </a:prstGeom>
        </p:spPr>
      </p:pic>
    </p:spTree>
    <p:extLst>
      <p:ext uri="{BB962C8B-B14F-4D97-AF65-F5344CB8AC3E}">
        <p14:creationId xmlns:p14="http://schemas.microsoft.com/office/powerpoint/2010/main" val="1605419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9744DC1-571D-D368-8E56-20E73CEC1C35}"/>
              </a:ext>
            </a:extLst>
          </p:cNvPr>
          <p:cNvSpPr>
            <a:spLocks noGrp="1"/>
          </p:cNvSpPr>
          <p:nvPr>
            <p:ph type="title"/>
          </p:nvPr>
        </p:nvSpPr>
        <p:spPr/>
        <p:txBody>
          <a:bodyPr/>
          <a:lstStyle/>
          <a:p>
            <a:r>
              <a:rPr lang="tr-TR" dirty="0">
                <a:latin typeface="Calibri" panose="020F0502020204030204" pitchFamily="34" charset="0"/>
                <a:cs typeface="Calibri" panose="020F0502020204030204" pitchFamily="34" charset="0"/>
              </a:rPr>
              <a:t>Experiment Hardware Environment</a:t>
            </a:r>
            <a:endParaRPr lang="tr-TR" dirty="0"/>
          </a:p>
        </p:txBody>
      </p:sp>
      <p:graphicFrame>
        <p:nvGraphicFramePr>
          <p:cNvPr id="5" name="İçerik Yer Tutucusu 2">
            <a:extLst>
              <a:ext uri="{FF2B5EF4-FFF2-40B4-BE49-F238E27FC236}">
                <a16:creationId xmlns:a16="http://schemas.microsoft.com/office/drawing/2014/main" id="{669161CC-4CAC-4428-87D3-4E243A81EA0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83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8"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EE5EB0B-E657-8749-7192-7611152E661E}"/>
              </a:ext>
            </a:extLst>
          </p:cNvPr>
          <p:cNvSpPr>
            <a:spLocks noGrp="1"/>
          </p:cNvSpPr>
          <p:nvPr>
            <p:ph type="title"/>
          </p:nvPr>
        </p:nvSpPr>
        <p:spPr>
          <a:xfrm>
            <a:off x="761803" y="350196"/>
            <a:ext cx="4646904" cy="1624520"/>
          </a:xfrm>
        </p:spPr>
        <p:txBody>
          <a:bodyPr anchor="ctr">
            <a:normAutofit/>
          </a:bodyPr>
          <a:lstStyle/>
          <a:p>
            <a:r>
              <a:rPr lang="tr-TR" sz="3700" err="1">
                <a:latin typeface="Calibri" panose="020F0502020204030204" pitchFamily="34" charset="0"/>
                <a:cs typeface="Calibri" panose="020F0502020204030204" pitchFamily="34" charset="0"/>
              </a:rPr>
              <a:t>Dataset</a:t>
            </a:r>
            <a:r>
              <a:rPr lang="tr-TR" sz="3700">
                <a:latin typeface="Calibri" panose="020F0502020204030204" pitchFamily="34" charset="0"/>
                <a:cs typeface="Calibri" panose="020F0502020204030204" pitchFamily="34" charset="0"/>
              </a:rPr>
              <a:t>: CORA </a:t>
            </a:r>
            <a:r>
              <a:rPr lang="tr-TR" sz="3700"/>
              <a:t>(</a:t>
            </a:r>
            <a:r>
              <a:rPr lang="tr-TR" sz="3700" err="1"/>
              <a:t>Scientific</a:t>
            </a:r>
            <a:r>
              <a:rPr lang="tr-TR" sz="3700"/>
              <a:t> Publications)</a:t>
            </a:r>
            <a:endParaRPr lang="tr-TR" sz="3700">
              <a:latin typeface="Calibri" panose="020F0502020204030204" pitchFamily="34" charset="0"/>
              <a:cs typeface="Calibri" panose="020F0502020204030204" pitchFamily="34" charset="0"/>
            </a:endParaRPr>
          </a:p>
        </p:txBody>
      </p:sp>
      <p:sp>
        <p:nvSpPr>
          <p:cNvPr id="3" name="İçerik Yer Tutucusu 2">
            <a:extLst>
              <a:ext uri="{FF2B5EF4-FFF2-40B4-BE49-F238E27FC236}">
                <a16:creationId xmlns:a16="http://schemas.microsoft.com/office/drawing/2014/main" id="{5E67B1CE-BC08-93EE-F4F9-0B6CD405BE9C}"/>
              </a:ext>
            </a:extLst>
          </p:cNvPr>
          <p:cNvSpPr>
            <a:spLocks noGrp="1"/>
          </p:cNvSpPr>
          <p:nvPr>
            <p:ph idx="1"/>
          </p:nvPr>
        </p:nvSpPr>
        <p:spPr>
          <a:xfrm>
            <a:off x="761802" y="2743200"/>
            <a:ext cx="4646905" cy="3613149"/>
          </a:xfrm>
        </p:spPr>
        <p:txBody>
          <a:bodyPr vert="horz" lIns="91440" tIns="45720" rIns="91440" bIns="45720" rtlCol="0" anchor="ctr">
            <a:noAutofit/>
          </a:bodyPr>
          <a:lstStyle/>
          <a:p>
            <a:r>
              <a:rPr lang="tr-TR" sz="2400" err="1">
                <a:latin typeface="Calibri"/>
                <a:ea typeface="Calibri"/>
                <a:cs typeface="Calibri"/>
              </a:rPr>
              <a:t>Nodes</a:t>
            </a:r>
            <a:r>
              <a:rPr lang="tr-TR" sz="2400">
                <a:latin typeface="Calibri"/>
                <a:ea typeface="Calibri"/>
                <a:cs typeface="Calibri"/>
              </a:rPr>
              <a:t>: 2708 </a:t>
            </a:r>
            <a:r>
              <a:rPr lang="tr-TR" sz="2400" err="1">
                <a:latin typeface="Calibri"/>
                <a:ea typeface="Calibri"/>
                <a:cs typeface="Calibri"/>
              </a:rPr>
              <a:t>scientific</a:t>
            </a:r>
            <a:r>
              <a:rPr lang="tr-TR" sz="2400">
                <a:latin typeface="Calibri"/>
                <a:ea typeface="Calibri"/>
                <a:cs typeface="Calibri"/>
              </a:rPr>
              <a:t> </a:t>
            </a:r>
            <a:r>
              <a:rPr lang="tr-TR" sz="2400" err="1">
                <a:latin typeface="Calibri"/>
                <a:ea typeface="Calibri"/>
                <a:cs typeface="Calibri"/>
              </a:rPr>
              <a:t>papers</a:t>
            </a:r>
            <a:endParaRPr lang="tr-TR" sz="2400">
              <a:latin typeface="Calibri"/>
              <a:ea typeface="Calibri"/>
              <a:cs typeface="Calibri"/>
            </a:endParaRPr>
          </a:p>
          <a:p>
            <a:r>
              <a:rPr lang="tr-TR" sz="2400" err="1">
                <a:latin typeface="Calibri"/>
                <a:ea typeface="Calibri"/>
                <a:cs typeface="Calibri"/>
              </a:rPr>
              <a:t>Edges</a:t>
            </a:r>
            <a:r>
              <a:rPr lang="tr-TR" sz="2400">
                <a:latin typeface="Calibri"/>
                <a:ea typeface="Calibri"/>
                <a:cs typeface="Calibri"/>
              </a:rPr>
              <a:t>: 5429 </a:t>
            </a:r>
            <a:r>
              <a:rPr lang="tr-TR" sz="2400" err="1">
                <a:latin typeface="Calibri"/>
                <a:ea typeface="Calibri"/>
                <a:cs typeface="Calibri"/>
              </a:rPr>
              <a:t>citation</a:t>
            </a:r>
            <a:r>
              <a:rPr lang="tr-TR" sz="2400">
                <a:latin typeface="Calibri"/>
                <a:ea typeface="Calibri"/>
                <a:cs typeface="Calibri"/>
              </a:rPr>
              <a:t> </a:t>
            </a:r>
            <a:r>
              <a:rPr lang="tr-TR" sz="2400" err="1">
                <a:latin typeface="Calibri"/>
                <a:ea typeface="Calibri"/>
                <a:cs typeface="Calibri"/>
              </a:rPr>
              <a:t>links</a:t>
            </a:r>
            <a:endParaRPr lang="tr-TR" sz="2400">
              <a:latin typeface="Calibri"/>
              <a:ea typeface="Calibri"/>
              <a:cs typeface="Calibri"/>
            </a:endParaRPr>
          </a:p>
          <a:p>
            <a:pPr marL="0" indent="0">
              <a:buNone/>
            </a:pPr>
            <a:endParaRPr lang="tr-TR" sz="2400">
              <a:latin typeface="Calibri" panose="020F0502020204030204" pitchFamily="34" charset="0"/>
              <a:ea typeface="Calibri"/>
              <a:cs typeface="Calibri" panose="020F0502020204030204" pitchFamily="34" charset="0"/>
            </a:endParaRPr>
          </a:p>
          <a:p>
            <a:r>
              <a:rPr lang="tr-TR" sz="2400" err="1">
                <a:latin typeface="Calibri"/>
                <a:ea typeface="Calibri"/>
                <a:cs typeface="Calibri"/>
              </a:rPr>
              <a:t>Node</a:t>
            </a:r>
            <a:r>
              <a:rPr lang="tr-TR" sz="2400">
                <a:latin typeface="Calibri"/>
                <a:ea typeface="Calibri"/>
                <a:cs typeface="Calibri"/>
              </a:rPr>
              <a:t> </a:t>
            </a:r>
            <a:r>
              <a:rPr lang="tr-TR" sz="2400" err="1">
                <a:latin typeface="Calibri"/>
                <a:ea typeface="Calibri"/>
                <a:cs typeface="Calibri"/>
              </a:rPr>
              <a:t>Features</a:t>
            </a:r>
            <a:r>
              <a:rPr lang="tr-TR" sz="2400">
                <a:latin typeface="Calibri"/>
                <a:ea typeface="Calibri"/>
                <a:cs typeface="Calibri"/>
              </a:rPr>
              <a:t>: 1433 </a:t>
            </a:r>
            <a:r>
              <a:rPr lang="tr-TR" sz="2400" err="1">
                <a:latin typeface="Calibri"/>
                <a:ea typeface="Calibri"/>
                <a:cs typeface="Calibri"/>
              </a:rPr>
              <a:t>dimensional</a:t>
            </a:r>
            <a:r>
              <a:rPr lang="tr-TR" sz="2400">
                <a:latin typeface="Calibri"/>
                <a:ea typeface="Calibri"/>
                <a:cs typeface="Calibri"/>
              </a:rPr>
              <a:t> </a:t>
            </a:r>
            <a:r>
              <a:rPr lang="tr-TR" sz="2400" err="1">
                <a:latin typeface="Calibri"/>
                <a:ea typeface="Calibri"/>
                <a:cs typeface="Calibri"/>
              </a:rPr>
              <a:t>binary</a:t>
            </a:r>
            <a:r>
              <a:rPr lang="tr-TR" sz="2400">
                <a:latin typeface="Calibri"/>
                <a:ea typeface="Calibri"/>
                <a:cs typeface="Calibri"/>
              </a:rPr>
              <a:t> </a:t>
            </a:r>
            <a:r>
              <a:rPr lang="tr-TR" sz="2400" err="1">
                <a:latin typeface="Calibri"/>
                <a:ea typeface="Calibri"/>
                <a:cs typeface="Calibri"/>
              </a:rPr>
              <a:t>vector</a:t>
            </a:r>
            <a:r>
              <a:rPr lang="tr-TR" sz="2400">
                <a:latin typeface="Calibri"/>
                <a:ea typeface="Calibri"/>
                <a:cs typeface="Calibri"/>
              </a:rPr>
              <a:t>(</a:t>
            </a:r>
            <a:r>
              <a:rPr lang="tr-TR" sz="2400" err="1">
                <a:latin typeface="Calibri"/>
                <a:ea typeface="Calibri"/>
                <a:cs typeface="Calibri"/>
              </a:rPr>
              <a:t>Bag</a:t>
            </a:r>
            <a:r>
              <a:rPr lang="tr-TR" sz="2400">
                <a:latin typeface="Calibri"/>
                <a:ea typeface="Calibri"/>
                <a:cs typeface="Calibri"/>
              </a:rPr>
              <a:t>-of-</a:t>
            </a:r>
            <a:r>
              <a:rPr lang="tr-TR" sz="2400" err="1">
                <a:latin typeface="Calibri"/>
                <a:ea typeface="Calibri"/>
                <a:cs typeface="Calibri"/>
              </a:rPr>
              <a:t>Words</a:t>
            </a:r>
            <a:r>
              <a:rPr lang="tr-TR" sz="2400">
                <a:latin typeface="Calibri"/>
                <a:ea typeface="Calibri"/>
                <a:cs typeface="Calibri"/>
              </a:rPr>
              <a:t>)</a:t>
            </a:r>
          </a:p>
          <a:p>
            <a:r>
              <a:rPr lang="tr-TR" sz="2400" err="1">
                <a:latin typeface="Calibri"/>
                <a:ea typeface="Calibri"/>
                <a:cs typeface="Calibri"/>
              </a:rPr>
              <a:t>Prediction</a:t>
            </a:r>
            <a:r>
              <a:rPr lang="tr-TR" sz="2400">
                <a:latin typeface="Calibri"/>
                <a:ea typeface="Calibri"/>
                <a:cs typeface="Calibri"/>
              </a:rPr>
              <a:t> </a:t>
            </a:r>
            <a:r>
              <a:rPr lang="tr-TR" sz="2400" err="1">
                <a:latin typeface="Calibri"/>
                <a:ea typeface="Calibri"/>
                <a:cs typeface="Calibri"/>
              </a:rPr>
              <a:t>Task</a:t>
            </a:r>
            <a:r>
              <a:rPr lang="tr-TR" sz="2400">
                <a:latin typeface="Calibri"/>
                <a:ea typeface="Calibri"/>
                <a:cs typeface="Calibri"/>
              </a:rPr>
              <a:t>: </a:t>
            </a:r>
            <a:r>
              <a:rPr lang="tr-TR" sz="2400" err="1">
                <a:latin typeface="Calibri"/>
                <a:ea typeface="Calibri"/>
                <a:cs typeface="Calibri"/>
              </a:rPr>
              <a:t>Classification</a:t>
            </a:r>
            <a:r>
              <a:rPr lang="tr-TR" sz="2400">
                <a:latin typeface="Calibri"/>
                <a:ea typeface="Calibri"/>
                <a:cs typeface="Calibri"/>
              </a:rPr>
              <a:t> </a:t>
            </a:r>
            <a:r>
              <a:rPr lang="tr-TR" sz="2400" err="1">
                <a:latin typeface="Calibri"/>
                <a:ea typeface="Calibri"/>
                <a:cs typeface="Calibri"/>
              </a:rPr>
              <a:t>into</a:t>
            </a:r>
            <a:r>
              <a:rPr lang="tr-TR" sz="2400">
                <a:latin typeface="Calibri"/>
                <a:ea typeface="Calibri"/>
                <a:cs typeface="Calibri"/>
              </a:rPr>
              <a:t> 7 </a:t>
            </a:r>
            <a:r>
              <a:rPr lang="tr-TR" sz="2400" err="1">
                <a:latin typeface="Calibri"/>
                <a:ea typeface="Calibri"/>
                <a:cs typeface="Calibri"/>
              </a:rPr>
              <a:t>categories</a:t>
            </a:r>
            <a:endParaRPr lang="tr-TR" sz="2400">
              <a:latin typeface="Calibri"/>
              <a:ea typeface="Calibri"/>
              <a:cs typeface="Calibri"/>
            </a:endParaRPr>
          </a:p>
          <a:p>
            <a:r>
              <a:rPr lang="tr-TR" sz="2400">
                <a:latin typeface="Calibri"/>
                <a:ea typeface="Calibri"/>
                <a:cs typeface="Calibri"/>
              </a:rPr>
              <a:t>Data </a:t>
            </a:r>
            <a:r>
              <a:rPr lang="tr-TR" sz="2400" err="1">
                <a:latin typeface="Calibri"/>
                <a:ea typeface="Calibri"/>
                <a:cs typeface="Calibri"/>
              </a:rPr>
              <a:t>Split</a:t>
            </a:r>
            <a:r>
              <a:rPr lang="tr-TR" sz="2400" err="1">
                <a:latin typeface="Calibri"/>
                <a:ea typeface="Calibri"/>
                <a:cs typeface="Calibri"/>
                <a:sym typeface="Wingdings" panose="05000000000000000000" pitchFamily="2" charset="2"/>
              </a:rPr>
              <a:t>:</a:t>
            </a:r>
            <a:r>
              <a:rPr lang="tr-TR" sz="2400" err="1">
                <a:latin typeface="Calibri"/>
                <a:ea typeface="Calibri"/>
                <a:cs typeface="Calibri"/>
              </a:rPr>
              <a:t>Standard</a:t>
            </a:r>
            <a:r>
              <a:rPr lang="tr-TR" sz="2400">
                <a:latin typeface="Calibri"/>
                <a:ea typeface="Calibri"/>
                <a:cs typeface="Calibri"/>
              </a:rPr>
              <a:t> </a:t>
            </a:r>
            <a:r>
              <a:rPr lang="tr-TR" sz="2400" err="1">
                <a:latin typeface="Calibri"/>
                <a:ea typeface="Calibri"/>
                <a:cs typeface="Calibri"/>
              </a:rPr>
              <a:t>Planetoid</a:t>
            </a:r>
            <a:r>
              <a:rPr lang="tr-TR" sz="2400">
                <a:latin typeface="Calibri"/>
                <a:ea typeface="Calibri"/>
                <a:cs typeface="Calibri"/>
              </a:rPr>
              <a:t> </a:t>
            </a:r>
            <a:r>
              <a:rPr lang="tr-TR" sz="2400" err="1">
                <a:latin typeface="Calibri"/>
                <a:ea typeface="Calibri"/>
                <a:cs typeface="Calibri"/>
              </a:rPr>
              <a:t>split</a:t>
            </a:r>
            <a:r>
              <a:rPr lang="tr-TR" sz="2400">
                <a:latin typeface="Calibri"/>
                <a:ea typeface="Calibri"/>
                <a:cs typeface="Calibri"/>
              </a:rPr>
              <a:t> (140 Train, 500 </a:t>
            </a:r>
            <a:r>
              <a:rPr lang="tr-TR" sz="2400" err="1">
                <a:latin typeface="Calibri"/>
                <a:ea typeface="Calibri"/>
                <a:cs typeface="Calibri"/>
              </a:rPr>
              <a:t>Val</a:t>
            </a:r>
            <a:r>
              <a:rPr lang="tr-TR" sz="2400">
                <a:latin typeface="Calibri"/>
                <a:ea typeface="Calibri"/>
                <a:cs typeface="Calibri"/>
              </a:rPr>
              <a:t>, 1000 Test)</a:t>
            </a:r>
          </a:p>
        </p:txBody>
      </p:sp>
      <p:pic>
        <p:nvPicPr>
          <p:cNvPr id="6" name="Resim 5" descr="çizim, taslak, çocukların yaptığı resimler, sanat içeren bir resim&#10;&#10;Yapay zeka tarafından oluşturulmuş içerik yanlış olabilir.">
            <a:extLst>
              <a:ext uri="{FF2B5EF4-FFF2-40B4-BE49-F238E27FC236}">
                <a16:creationId xmlns:a16="http://schemas.microsoft.com/office/drawing/2014/main" id="{8677D4AE-F97F-9780-AE0A-BEBAF12182B1}"/>
              </a:ext>
            </a:extLst>
          </p:cNvPr>
          <p:cNvPicPr>
            <a:picLocks noChangeAspect="1"/>
          </p:cNvPicPr>
          <p:nvPr/>
        </p:nvPicPr>
        <p:blipFill>
          <a:blip r:embed="rId3">
            <a:extLst>
              <a:ext uri="{28A0092B-C50C-407E-A947-70E740481C1C}">
                <a14:useLocalDpi xmlns:a14="http://schemas.microsoft.com/office/drawing/2010/main" val="0"/>
              </a:ext>
            </a:extLst>
          </a:blip>
          <a:srcRect t="190" r="3" b="3"/>
          <a:stretch>
            <a:fillRect/>
          </a:stretch>
        </p:blipFill>
        <p:spPr>
          <a:xfrm>
            <a:off x="6096000" y="1"/>
            <a:ext cx="6102825" cy="6858000"/>
          </a:xfrm>
          <a:prstGeom prst="rect">
            <a:avLst/>
          </a:prstGeom>
        </p:spPr>
      </p:pic>
    </p:spTree>
    <p:extLst>
      <p:ext uri="{BB962C8B-B14F-4D97-AF65-F5344CB8AC3E}">
        <p14:creationId xmlns:p14="http://schemas.microsoft.com/office/powerpoint/2010/main" val="1697691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692B179-3D69-40D1-32C8-AC00EECFFE22}"/>
              </a:ext>
            </a:extLst>
          </p:cNvPr>
          <p:cNvSpPr>
            <a:spLocks noGrp="1"/>
          </p:cNvSpPr>
          <p:nvPr>
            <p:ph type="title"/>
          </p:nvPr>
        </p:nvSpPr>
        <p:spPr>
          <a:xfrm>
            <a:off x="838200" y="365126"/>
            <a:ext cx="10515600" cy="773210"/>
          </a:xfrm>
        </p:spPr>
        <p:txBody>
          <a:bodyPr/>
          <a:lstStyle/>
          <a:p>
            <a:r>
              <a:rPr lang="tr-TR" err="1"/>
              <a:t>Implementation</a:t>
            </a:r>
            <a:r>
              <a:rPr lang="tr-TR"/>
              <a:t> </a:t>
            </a:r>
            <a:r>
              <a:rPr lang="tr-TR" err="1"/>
              <a:t>Strategy</a:t>
            </a:r>
            <a:endParaRPr lang="tr-TR"/>
          </a:p>
        </p:txBody>
      </p:sp>
      <p:sp>
        <p:nvSpPr>
          <p:cNvPr id="3" name="İçerik Yer Tutucusu 2">
            <a:extLst>
              <a:ext uri="{FF2B5EF4-FFF2-40B4-BE49-F238E27FC236}">
                <a16:creationId xmlns:a16="http://schemas.microsoft.com/office/drawing/2014/main" id="{7AF34A9E-6454-AAC5-8216-DFE1E6B440C1}"/>
              </a:ext>
            </a:extLst>
          </p:cNvPr>
          <p:cNvSpPr>
            <a:spLocks noGrp="1"/>
          </p:cNvSpPr>
          <p:nvPr>
            <p:ph idx="1"/>
          </p:nvPr>
        </p:nvSpPr>
        <p:spPr>
          <a:xfrm>
            <a:off x="789992" y="1558212"/>
            <a:ext cx="10515600" cy="4693396"/>
          </a:xfrm>
        </p:spPr>
        <p:txBody>
          <a:bodyPr vert="horz" lIns="91440" tIns="45720" rIns="91440" bIns="45720" rtlCol="0" anchor="t">
            <a:normAutofit/>
          </a:bodyPr>
          <a:lstStyle/>
          <a:p>
            <a:r>
              <a:rPr lang="tr-TR" sz="2400">
                <a:latin typeface="Calibri"/>
                <a:ea typeface="Calibri"/>
                <a:cs typeface="Calibri"/>
              </a:rPr>
              <a:t>Framework </a:t>
            </a:r>
            <a:r>
              <a:rPr lang="tr-TR" sz="2400" err="1">
                <a:latin typeface="Calibri"/>
                <a:ea typeface="Calibri"/>
                <a:cs typeface="Calibri"/>
              </a:rPr>
              <a:t>Transition</a:t>
            </a:r>
            <a:r>
              <a:rPr lang="tr-TR" sz="2400">
                <a:latin typeface="Calibri"/>
                <a:ea typeface="Calibri"/>
                <a:cs typeface="Calibri"/>
              </a:rPr>
              <a:t>: </a:t>
            </a:r>
            <a:r>
              <a:rPr lang="tr-TR" sz="2400" err="1">
                <a:latin typeface="Calibri"/>
                <a:ea typeface="Calibri"/>
                <a:cs typeface="Calibri"/>
              </a:rPr>
              <a:t>Tensorflow</a:t>
            </a:r>
            <a:r>
              <a:rPr lang="tr-TR" sz="2400">
                <a:latin typeface="Calibri"/>
                <a:ea typeface="Calibri"/>
                <a:cs typeface="Calibri"/>
              </a:rPr>
              <a:t> </a:t>
            </a:r>
            <a:r>
              <a:rPr lang="tr-TR" sz="2400" err="1">
                <a:latin typeface="Calibri"/>
                <a:ea typeface="Calibri"/>
                <a:cs typeface="Calibri"/>
              </a:rPr>
              <a:t>to</a:t>
            </a:r>
            <a:r>
              <a:rPr lang="tr-TR" sz="2400">
                <a:latin typeface="Calibri"/>
                <a:ea typeface="Calibri"/>
                <a:cs typeface="Calibri"/>
              </a:rPr>
              <a:t> </a:t>
            </a:r>
            <a:r>
              <a:rPr lang="tr-TR" sz="2400" err="1">
                <a:latin typeface="Calibri"/>
                <a:ea typeface="Calibri"/>
                <a:cs typeface="Calibri"/>
              </a:rPr>
              <a:t>PyTorch</a:t>
            </a:r>
            <a:endParaRPr lang="tr-TR" sz="2400">
              <a:latin typeface="Calibri"/>
              <a:ea typeface="Calibri"/>
              <a:cs typeface="Calibri"/>
            </a:endParaRPr>
          </a:p>
          <a:p>
            <a:r>
              <a:rPr lang="tr-TR" sz="2400" err="1">
                <a:latin typeface="Calibri"/>
                <a:ea typeface="Calibri"/>
                <a:cs typeface="Calibri"/>
              </a:rPr>
              <a:t>Masked</a:t>
            </a:r>
            <a:r>
              <a:rPr lang="tr-TR" sz="2400">
                <a:latin typeface="Calibri"/>
                <a:ea typeface="Calibri"/>
                <a:cs typeface="Calibri"/>
              </a:rPr>
              <a:t> Self </a:t>
            </a:r>
            <a:r>
              <a:rPr lang="tr-TR" sz="2400" err="1">
                <a:latin typeface="Calibri"/>
                <a:ea typeface="Calibri"/>
                <a:cs typeface="Calibri"/>
              </a:rPr>
              <a:t>Attention</a:t>
            </a:r>
            <a:r>
              <a:rPr lang="tr-TR" sz="2400">
                <a:latin typeface="Calibri"/>
                <a:ea typeface="Calibri"/>
                <a:cs typeface="Calibri"/>
              </a:rPr>
              <a:t>: N</a:t>
            </a:r>
            <a:r>
              <a:rPr lang="en-US" sz="2400">
                <a:latin typeface="Calibri"/>
                <a:ea typeface="Calibri"/>
                <a:cs typeface="Calibri"/>
              </a:rPr>
              <a:t>odes only attend to their direct neighbors</a:t>
            </a:r>
            <a:endParaRPr lang="tr-TR" sz="2400">
              <a:latin typeface="Calibri"/>
              <a:ea typeface="Calibri"/>
              <a:cs typeface="Calibri"/>
            </a:endParaRPr>
          </a:p>
          <a:p>
            <a:r>
              <a:rPr lang="tr-TR" sz="2400">
                <a:latin typeface="Calibri"/>
                <a:ea typeface="Calibri"/>
                <a:cs typeface="Calibri"/>
              </a:rPr>
              <a:t>First </a:t>
            </a:r>
            <a:r>
              <a:rPr lang="tr-TR" sz="2400" err="1">
                <a:latin typeface="Calibri"/>
                <a:ea typeface="Calibri"/>
                <a:cs typeface="Calibri"/>
              </a:rPr>
              <a:t>Layer</a:t>
            </a:r>
            <a:r>
              <a:rPr lang="tr-TR" sz="2400">
                <a:latin typeface="Calibri"/>
                <a:ea typeface="Calibri"/>
                <a:cs typeface="Calibri"/>
              </a:rPr>
              <a:t>: 8 </a:t>
            </a:r>
            <a:r>
              <a:rPr lang="tr-TR" sz="2400" err="1">
                <a:latin typeface="Calibri"/>
                <a:ea typeface="Calibri"/>
                <a:cs typeface="Calibri"/>
              </a:rPr>
              <a:t>Attention</a:t>
            </a:r>
            <a:r>
              <a:rPr lang="tr-TR" sz="2400">
                <a:latin typeface="Calibri"/>
                <a:ea typeface="Calibri"/>
                <a:cs typeface="Calibri"/>
              </a:rPr>
              <a:t> </a:t>
            </a:r>
            <a:r>
              <a:rPr lang="tr-TR" sz="2400" err="1">
                <a:latin typeface="Calibri"/>
                <a:ea typeface="Calibri"/>
                <a:cs typeface="Calibri"/>
              </a:rPr>
              <a:t>Heads</a:t>
            </a:r>
            <a:r>
              <a:rPr lang="tr-TR" sz="2400">
                <a:latin typeface="Calibri"/>
                <a:ea typeface="Calibri"/>
                <a:cs typeface="Calibri"/>
              </a:rPr>
              <a:t> (</a:t>
            </a:r>
            <a:r>
              <a:rPr lang="tr-TR" sz="2400" err="1">
                <a:latin typeface="Calibri"/>
                <a:ea typeface="Calibri"/>
                <a:cs typeface="Calibri"/>
              </a:rPr>
              <a:t>Concatenated</a:t>
            </a:r>
            <a:r>
              <a:rPr lang="tr-TR" sz="2400">
                <a:latin typeface="Calibri"/>
                <a:ea typeface="Calibri"/>
                <a:cs typeface="Calibri"/>
              </a:rPr>
              <a:t>)</a:t>
            </a:r>
          </a:p>
          <a:p>
            <a:r>
              <a:rPr lang="tr-TR" sz="2400">
                <a:latin typeface="Calibri"/>
                <a:ea typeface="Calibri"/>
                <a:cs typeface="Calibri"/>
              </a:rPr>
              <a:t>Second </a:t>
            </a:r>
            <a:r>
              <a:rPr lang="tr-TR" sz="2400" err="1">
                <a:latin typeface="Calibri"/>
                <a:ea typeface="Calibri"/>
                <a:cs typeface="Calibri"/>
              </a:rPr>
              <a:t>Layer</a:t>
            </a:r>
            <a:r>
              <a:rPr lang="tr-TR" sz="2400">
                <a:latin typeface="Calibri"/>
                <a:ea typeface="Calibri"/>
                <a:cs typeface="Calibri"/>
              </a:rPr>
              <a:t>: 1 </a:t>
            </a:r>
            <a:r>
              <a:rPr lang="tr-TR" sz="2400" err="1">
                <a:latin typeface="Calibri"/>
                <a:ea typeface="Calibri"/>
                <a:cs typeface="Calibri"/>
              </a:rPr>
              <a:t>Output</a:t>
            </a:r>
            <a:r>
              <a:rPr lang="tr-TR" sz="2400">
                <a:latin typeface="Calibri"/>
                <a:ea typeface="Calibri"/>
                <a:cs typeface="Calibri"/>
              </a:rPr>
              <a:t> </a:t>
            </a:r>
            <a:r>
              <a:rPr lang="tr-TR" sz="2400" err="1">
                <a:latin typeface="Calibri"/>
                <a:ea typeface="Calibri"/>
                <a:cs typeface="Calibri"/>
              </a:rPr>
              <a:t>Head</a:t>
            </a:r>
            <a:r>
              <a:rPr lang="tr-TR" sz="2400">
                <a:latin typeface="Calibri"/>
                <a:ea typeface="Calibri"/>
                <a:cs typeface="Calibri"/>
              </a:rPr>
              <a:t> (</a:t>
            </a:r>
            <a:r>
              <a:rPr lang="tr-TR" sz="2400" err="1">
                <a:latin typeface="Calibri"/>
                <a:ea typeface="Calibri"/>
                <a:cs typeface="Calibri"/>
              </a:rPr>
              <a:t>Classification</a:t>
            </a:r>
            <a:r>
              <a:rPr lang="tr-TR" sz="2400">
                <a:latin typeface="Calibri"/>
                <a:ea typeface="Calibri"/>
                <a:cs typeface="Calibri"/>
              </a:rPr>
              <a:t>)</a:t>
            </a:r>
          </a:p>
          <a:p>
            <a:pPr marL="0" indent="0">
              <a:buNone/>
            </a:pPr>
            <a:endParaRPr lang="tr-TR" sz="2400">
              <a:latin typeface="Calibri" panose="020F0502020204030204" pitchFamily="34" charset="0"/>
              <a:cs typeface="Calibri" panose="020F0502020204030204" pitchFamily="34" charset="0"/>
            </a:endParaRPr>
          </a:p>
          <a:p>
            <a:r>
              <a:rPr lang="tr-TR" sz="2400">
                <a:latin typeface="Calibri"/>
                <a:ea typeface="Calibri"/>
                <a:cs typeface="Calibri"/>
              </a:rPr>
              <a:t>Hyperparameters:</a:t>
            </a:r>
            <a:endParaRPr lang="tr-TR" sz="2400">
              <a:latin typeface="Calibri" panose="020F0502020204030204" pitchFamily="34" charset="0"/>
              <a:ea typeface="Calibri" panose="020F0502020204030204" pitchFamily="34" charset="0"/>
              <a:cs typeface="Calibri" panose="020F0502020204030204" pitchFamily="34" charset="0"/>
            </a:endParaRPr>
          </a:p>
          <a:p>
            <a:pPr lvl="1">
              <a:buFont typeface="Courier New" panose="020B0604020202020204" pitchFamily="34" charset="0"/>
              <a:buChar char="o"/>
            </a:pPr>
            <a:r>
              <a:rPr lang="tr-TR" sz="2000">
                <a:latin typeface="Calibri"/>
                <a:ea typeface="Calibri"/>
                <a:cs typeface="Calibri"/>
              </a:rPr>
              <a:t>Learning rate: 0.005</a:t>
            </a:r>
          </a:p>
          <a:p>
            <a:pPr lvl="1">
              <a:buFont typeface="Courier New" panose="020B0604020202020204" pitchFamily="34" charset="0"/>
              <a:buChar char="o"/>
            </a:pPr>
            <a:r>
              <a:rPr lang="tr-TR" sz="2000">
                <a:latin typeface="Calibri"/>
                <a:ea typeface="Calibri"/>
                <a:cs typeface="Calibri"/>
              </a:rPr>
              <a:t>Weight </a:t>
            </a:r>
            <a:r>
              <a:rPr lang="tr-TR" sz="2000" err="1">
                <a:latin typeface="Calibri"/>
                <a:ea typeface="Calibri"/>
                <a:cs typeface="Calibri"/>
              </a:rPr>
              <a:t>decay</a:t>
            </a:r>
            <a:r>
              <a:rPr lang="tr-TR" sz="2000">
                <a:latin typeface="Calibri"/>
                <a:ea typeface="Calibri"/>
                <a:cs typeface="Calibri"/>
              </a:rPr>
              <a:t>: 0.0005</a:t>
            </a:r>
            <a:endParaRPr lang="tr-TR">
              <a:latin typeface="Aptos" panose="02110004020202020204"/>
              <a:ea typeface="Calibri"/>
              <a:cs typeface="Calibri"/>
            </a:endParaRPr>
          </a:p>
          <a:p>
            <a:pPr lvl="1">
              <a:buFont typeface="Courier New" panose="020B0604020202020204" pitchFamily="34" charset="0"/>
              <a:buChar char="o"/>
            </a:pPr>
            <a:r>
              <a:rPr lang="tr-TR" sz="2000">
                <a:latin typeface="Calibri"/>
                <a:ea typeface="Calibri"/>
                <a:cs typeface="Calibri"/>
              </a:rPr>
              <a:t>Dropout:0.6</a:t>
            </a:r>
            <a:endParaRPr lang="tr-TR">
              <a:latin typeface="Aptos" panose="02110004020202020204"/>
              <a:ea typeface="Calibri"/>
              <a:cs typeface="Calibri"/>
            </a:endParaRPr>
          </a:p>
          <a:p>
            <a:pPr lvl="1">
              <a:buFont typeface="Courier New" panose="020B0604020202020204" pitchFamily="34" charset="0"/>
              <a:buChar char="o"/>
            </a:pPr>
            <a:r>
              <a:rPr lang="tr-TR" sz="2000">
                <a:latin typeface="Calibri"/>
                <a:ea typeface="Calibri"/>
                <a:cs typeface="Calibri"/>
              </a:rPr>
              <a:t>Epochs: 200(</a:t>
            </a:r>
            <a:r>
              <a:rPr lang="en-US" sz="2000">
                <a:latin typeface="Calibri"/>
                <a:ea typeface="Calibri"/>
                <a:cs typeface="Calibri"/>
              </a:rPr>
              <a:t>with Early Stopping patience: 100</a:t>
            </a:r>
            <a:r>
              <a:rPr lang="tr-TR" sz="2000">
                <a:latin typeface="Calibri"/>
                <a:ea typeface="Calibri"/>
                <a:cs typeface="Calibri"/>
              </a:rPr>
              <a:t>)</a:t>
            </a:r>
            <a:endParaRPr lang="tr-TR"/>
          </a:p>
        </p:txBody>
      </p:sp>
    </p:spTree>
    <p:extLst>
      <p:ext uri="{BB962C8B-B14F-4D97-AF65-F5344CB8AC3E}">
        <p14:creationId xmlns:p14="http://schemas.microsoft.com/office/powerpoint/2010/main" val="3824968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C03FCF3-F99C-B301-DF3E-FAB935162440}"/>
              </a:ext>
            </a:extLst>
          </p:cNvPr>
          <p:cNvSpPr>
            <a:spLocks noGrp="1"/>
          </p:cNvSpPr>
          <p:nvPr>
            <p:ph type="title"/>
          </p:nvPr>
        </p:nvSpPr>
        <p:spPr/>
        <p:txBody>
          <a:bodyPr/>
          <a:lstStyle/>
          <a:p>
            <a:r>
              <a:rPr lang="en-US"/>
              <a:t>Our Contribution:</a:t>
            </a:r>
            <a:r>
              <a:rPr lang="tr-TR"/>
              <a:t> </a:t>
            </a:r>
            <a:r>
              <a:rPr lang="en-US"/>
              <a:t>Dynamic Head Attention</a:t>
            </a:r>
            <a:endParaRPr lang="tr-TR"/>
          </a:p>
        </p:txBody>
      </p:sp>
      <p:sp>
        <p:nvSpPr>
          <p:cNvPr id="3" name="İçerik Yer Tutucusu 2">
            <a:extLst>
              <a:ext uri="{FF2B5EF4-FFF2-40B4-BE49-F238E27FC236}">
                <a16:creationId xmlns:a16="http://schemas.microsoft.com/office/drawing/2014/main" id="{1B7CE9D2-2A34-B740-96B1-A9BC949E1075}"/>
              </a:ext>
            </a:extLst>
          </p:cNvPr>
          <p:cNvSpPr>
            <a:spLocks noGrp="1"/>
          </p:cNvSpPr>
          <p:nvPr>
            <p:ph idx="1"/>
          </p:nvPr>
        </p:nvSpPr>
        <p:spPr>
          <a:xfrm>
            <a:off x="838200" y="1947499"/>
            <a:ext cx="10515600" cy="4351338"/>
          </a:xfrm>
        </p:spPr>
        <p:txBody>
          <a:bodyPr vert="horz" lIns="91440" tIns="45720" rIns="91440" bIns="45720" rtlCol="0" anchor="t">
            <a:normAutofit/>
          </a:bodyPr>
          <a:lstStyle/>
          <a:p>
            <a:pPr marL="0" indent="0">
              <a:buNone/>
            </a:pPr>
            <a:r>
              <a:rPr lang="tr-TR" sz="2400" err="1">
                <a:latin typeface="Calibri"/>
                <a:ea typeface="Calibri"/>
                <a:cs typeface="Calibri"/>
              </a:rPr>
              <a:t>Paper’s</a:t>
            </a:r>
            <a:r>
              <a:rPr lang="tr-TR" sz="2400">
                <a:latin typeface="Calibri"/>
                <a:ea typeface="Calibri"/>
                <a:cs typeface="Calibri"/>
              </a:rPr>
              <a:t>:</a:t>
            </a:r>
          </a:p>
          <a:p>
            <a:pPr marL="0" indent="0">
              <a:buNone/>
            </a:pPr>
            <a:endParaRPr lang="tr-TR"/>
          </a:p>
          <a:p>
            <a:pPr marL="0" indent="0">
              <a:buNone/>
            </a:pPr>
            <a:endParaRPr lang="tr-TR"/>
          </a:p>
          <a:p>
            <a:pPr marL="0" indent="0">
              <a:buNone/>
            </a:pPr>
            <a:endParaRPr lang="tr-TR"/>
          </a:p>
          <a:p>
            <a:pPr marL="0" indent="0">
              <a:buNone/>
            </a:pPr>
            <a:r>
              <a:rPr lang="tr-TR" sz="2400" err="1">
                <a:latin typeface="Calibri"/>
                <a:ea typeface="Calibri"/>
                <a:cs typeface="Calibri"/>
              </a:rPr>
              <a:t>Ours</a:t>
            </a:r>
            <a:r>
              <a:rPr lang="tr-TR" sz="2400">
                <a:latin typeface="Calibri"/>
                <a:ea typeface="Calibri"/>
                <a:cs typeface="Calibri"/>
              </a:rPr>
              <a:t>:</a:t>
            </a:r>
          </a:p>
        </p:txBody>
      </p:sp>
      <p:sp>
        <p:nvSpPr>
          <p:cNvPr id="5" name="Dikdörtgen 4">
            <a:extLst>
              <a:ext uri="{FF2B5EF4-FFF2-40B4-BE49-F238E27FC236}">
                <a16:creationId xmlns:a16="http://schemas.microsoft.com/office/drawing/2014/main" id="{1997C3BB-2C24-3047-0BFB-4166E874B1B2}"/>
              </a:ext>
            </a:extLst>
          </p:cNvPr>
          <p:cNvSpPr/>
          <p:nvPr/>
        </p:nvSpPr>
        <p:spPr>
          <a:xfrm>
            <a:off x="931817" y="2560320"/>
            <a:ext cx="5257800" cy="404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err="1"/>
              <a:t>Head</a:t>
            </a:r>
            <a:r>
              <a:rPr lang="tr-TR"/>
              <a:t> 1, </a:t>
            </a:r>
            <a:r>
              <a:rPr lang="tr-TR" err="1"/>
              <a:t>Head</a:t>
            </a:r>
            <a:r>
              <a:rPr lang="tr-TR"/>
              <a:t> 2, … </a:t>
            </a:r>
            <a:r>
              <a:rPr lang="tr-TR" err="1"/>
              <a:t>Head</a:t>
            </a:r>
            <a:r>
              <a:rPr lang="tr-TR"/>
              <a:t> 8</a:t>
            </a:r>
          </a:p>
        </p:txBody>
      </p:sp>
      <p:sp>
        <p:nvSpPr>
          <p:cNvPr id="6" name="Dikdörtgen 5">
            <a:extLst>
              <a:ext uri="{FF2B5EF4-FFF2-40B4-BE49-F238E27FC236}">
                <a16:creationId xmlns:a16="http://schemas.microsoft.com/office/drawing/2014/main" id="{DB4FE497-33E4-1E7A-DE2F-10B4D6797069}"/>
              </a:ext>
            </a:extLst>
          </p:cNvPr>
          <p:cNvSpPr/>
          <p:nvPr/>
        </p:nvSpPr>
        <p:spPr>
          <a:xfrm>
            <a:off x="6925493" y="2560320"/>
            <a:ext cx="1933303" cy="404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err="1"/>
              <a:t>Average</a:t>
            </a:r>
            <a:endParaRPr lang="tr-TR"/>
          </a:p>
        </p:txBody>
      </p:sp>
      <p:sp>
        <p:nvSpPr>
          <p:cNvPr id="7" name="Dikdörtgen 6">
            <a:extLst>
              <a:ext uri="{FF2B5EF4-FFF2-40B4-BE49-F238E27FC236}">
                <a16:creationId xmlns:a16="http://schemas.microsoft.com/office/drawing/2014/main" id="{7499C146-9E07-AB9C-D00E-D6FB4EA6F8AB}"/>
              </a:ext>
            </a:extLst>
          </p:cNvPr>
          <p:cNvSpPr/>
          <p:nvPr/>
        </p:nvSpPr>
        <p:spPr>
          <a:xfrm>
            <a:off x="9688289" y="2560320"/>
            <a:ext cx="1685109" cy="404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err="1"/>
              <a:t>Output</a:t>
            </a:r>
            <a:endParaRPr lang="tr-TR"/>
          </a:p>
        </p:txBody>
      </p:sp>
      <p:sp>
        <p:nvSpPr>
          <p:cNvPr id="8" name="Ok: Sağ 7">
            <a:extLst>
              <a:ext uri="{FF2B5EF4-FFF2-40B4-BE49-F238E27FC236}">
                <a16:creationId xmlns:a16="http://schemas.microsoft.com/office/drawing/2014/main" id="{8BE53C8D-93BB-97A1-29BD-417AA1FD1782}"/>
              </a:ext>
            </a:extLst>
          </p:cNvPr>
          <p:cNvSpPr/>
          <p:nvPr/>
        </p:nvSpPr>
        <p:spPr>
          <a:xfrm>
            <a:off x="6283234" y="2717074"/>
            <a:ext cx="457200" cy="1436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Ok: Sağ 8">
            <a:extLst>
              <a:ext uri="{FF2B5EF4-FFF2-40B4-BE49-F238E27FC236}">
                <a16:creationId xmlns:a16="http://schemas.microsoft.com/office/drawing/2014/main" id="{7672F7E3-B907-C5F8-E393-13A8F8278EA4}"/>
              </a:ext>
            </a:extLst>
          </p:cNvPr>
          <p:cNvSpPr/>
          <p:nvPr/>
        </p:nvSpPr>
        <p:spPr>
          <a:xfrm>
            <a:off x="9026434" y="2717074"/>
            <a:ext cx="496389" cy="1436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Dikdörtgen 9">
            <a:extLst>
              <a:ext uri="{FF2B5EF4-FFF2-40B4-BE49-F238E27FC236}">
                <a16:creationId xmlns:a16="http://schemas.microsoft.com/office/drawing/2014/main" id="{214523FD-09E0-AECD-E430-C2CDEA94C997}"/>
              </a:ext>
            </a:extLst>
          </p:cNvPr>
          <p:cNvSpPr/>
          <p:nvPr/>
        </p:nvSpPr>
        <p:spPr>
          <a:xfrm>
            <a:off x="838200" y="4628606"/>
            <a:ext cx="5257800" cy="404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err="1"/>
              <a:t>Head</a:t>
            </a:r>
            <a:r>
              <a:rPr lang="tr-TR"/>
              <a:t> 1, </a:t>
            </a:r>
            <a:r>
              <a:rPr lang="tr-TR" err="1"/>
              <a:t>Head</a:t>
            </a:r>
            <a:r>
              <a:rPr lang="tr-TR"/>
              <a:t> 2, … </a:t>
            </a:r>
            <a:r>
              <a:rPr lang="tr-TR" err="1"/>
              <a:t>Head</a:t>
            </a:r>
            <a:r>
              <a:rPr lang="tr-TR"/>
              <a:t> 8</a:t>
            </a:r>
          </a:p>
        </p:txBody>
      </p:sp>
      <p:sp>
        <p:nvSpPr>
          <p:cNvPr id="11" name="Dikdörtgen 10">
            <a:extLst>
              <a:ext uri="{FF2B5EF4-FFF2-40B4-BE49-F238E27FC236}">
                <a16:creationId xmlns:a16="http://schemas.microsoft.com/office/drawing/2014/main" id="{BBDBEDF5-8C41-504B-BD89-2B1817F14FF0}"/>
              </a:ext>
            </a:extLst>
          </p:cNvPr>
          <p:cNvSpPr/>
          <p:nvPr/>
        </p:nvSpPr>
        <p:spPr>
          <a:xfrm>
            <a:off x="6876504" y="4628606"/>
            <a:ext cx="1933303" cy="404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err="1"/>
              <a:t>Learned</a:t>
            </a:r>
            <a:r>
              <a:rPr lang="tr-TR"/>
              <a:t> </a:t>
            </a:r>
            <a:r>
              <a:rPr lang="tr-TR" err="1"/>
              <a:t>weights</a:t>
            </a:r>
            <a:endParaRPr lang="tr-TR"/>
          </a:p>
        </p:txBody>
      </p:sp>
      <p:sp>
        <p:nvSpPr>
          <p:cNvPr id="12" name="Dikdörtgen 11">
            <a:extLst>
              <a:ext uri="{FF2B5EF4-FFF2-40B4-BE49-F238E27FC236}">
                <a16:creationId xmlns:a16="http://schemas.microsoft.com/office/drawing/2014/main" id="{7005B37D-2682-50AE-6D82-5E696F42277B}"/>
              </a:ext>
            </a:extLst>
          </p:cNvPr>
          <p:cNvSpPr/>
          <p:nvPr/>
        </p:nvSpPr>
        <p:spPr>
          <a:xfrm>
            <a:off x="9678490" y="4632960"/>
            <a:ext cx="1685109" cy="404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err="1"/>
              <a:t>Output</a:t>
            </a:r>
            <a:endParaRPr lang="tr-TR"/>
          </a:p>
        </p:txBody>
      </p:sp>
      <p:sp>
        <p:nvSpPr>
          <p:cNvPr id="13" name="Ok: Sağ 12">
            <a:extLst>
              <a:ext uri="{FF2B5EF4-FFF2-40B4-BE49-F238E27FC236}">
                <a16:creationId xmlns:a16="http://schemas.microsoft.com/office/drawing/2014/main" id="{3BEC8AA8-F8B5-C4A1-395F-2FB4F33E72C5}"/>
              </a:ext>
            </a:extLst>
          </p:cNvPr>
          <p:cNvSpPr/>
          <p:nvPr/>
        </p:nvSpPr>
        <p:spPr>
          <a:xfrm>
            <a:off x="6282146" y="4743994"/>
            <a:ext cx="457200" cy="1436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Ok: Sağ 13">
            <a:extLst>
              <a:ext uri="{FF2B5EF4-FFF2-40B4-BE49-F238E27FC236}">
                <a16:creationId xmlns:a16="http://schemas.microsoft.com/office/drawing/2014/main" id="{2622717C-599D-172F-8BE2-FD32405D835E}"/>
              </a:ext>
            </a:extLst>
          </p:cNvPr>
          <p:cNvSpPr/>
          <p:nvPr/>
        </p:nvSpPr>
        <p:spPr>
          <a:xfrm>
            <a:off x="9026434" y="4743994"/>
            <a:ext cx="496389" cy="1436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7" name="Resim 16" descr="yazı tipi, diyagram, çizgi, metin içeren bir resim&#10;&#10;Yapay zeka tarafından oluşturulmuş içerik yanlış olabilir.">
            <a:extLst>
              <a:ext uri="{FF2B5EF4-FFF2-40B4-BE49-F238E27FC236}">
                <a16:creationId xmlns:a16="http://schemas.microsoft.com/office/drawing/2014/main" id="{CE7E0961-4D46-F8E6-A89C-A1F1980D7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5785" y="3838342"/>
            <a:ext cx="1592718" cy="609653"/>
          </a:xfrm>
          <a:prstGeom prst="rect">
            <a:avLst/>
          </a:prstGeom>
        </p:spPr>
      </p:pic>
      <p:pic>
        <p:nvPicPr>
          <p:cNvPr id="19" name="Resim 18" descr="yazı tipi, diyagram, çizgi, sayı, numara içeren bir resim&#10;&#10;Yapay zeka tarafından oluşturulmuş içerik yanlış olabilir.">
            <a:extLst>
              <a:ext uri="{FF2B5EF4-FFF2-40B4-BE49-F238E27FC236}">
                <a16:creationId xmlns:a16="http://schemas.microsoft.com/office/drawing/2014/main" id="{51710D7A-E473-4BFF-A516-8ABCA97805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6813" y="1852741"/>
            <a:ext cx="1432684" cy="617273"/>
          </a:xfrm>
          <a:prstGeom prst="rect">
            <a:avLst/>
          </a:prstGeom>
        </p:spPr>
      </p:pic>
    </p:spTree>
    <p:extLst>
      <p:ext uri="{BB962C8B-B14F-4D97-AF65-F5344CB8AC3E}">
        <p14:creationId xmlns:p14="http://schemas.microsoft.com/office/powerpoint/2010/main" val="745079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1">
            <a:extLst>
              <a:ext uri="{FF2B5EF4-FFF2-40B4-BE49-F238E27FC236}">
                <a16:creationId xmlns:a16="http://schemas.microsoft.com/office/drawing/2014/main" id="{576152AB-DB4E-43E1-BE8B-9E2B5DE4C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13">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74329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15">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729038"/>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4B224C7A-2098-B681-BE65-1A8366CC1A80}"/>
              </a:ext>
            </a:extLst>
          </p:cNvPr>
          <p:cNvSpPr>
            <a:spLocks noGrp="1"/>
          </p:cNvSpPr>
          <p:nvPr>
            <p:ph type="title"/>
          </p:nvPr>
        </p:nvSpPr>
        <p:spPr>
          <a:xfrm>
            <a:off x="1115568" y="347730"/>
            <a:ext cx="10168128" cy="2052034"/>
          </a:xfrm>
        </p:spPr>
        <p:txBody>
          <a:bodyPr>
            <a:normAutofit/>
          </a:bodyPr>
          <a:lstStyle/>
          <a:p>
            <a:r>
              <a:rPr lang="tr-TR" sz="4800"/>
              <a:t>Results </a:t>
            </a:r>
          </a:p>
        </p:txBody>
      </p:sp>
      <p:sp>
        <p:nvSpPr>
          <p:cNvPr id="26" name="Rectangle 17">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01050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İçerik Yer Tutucusu 6">
            <a:extLst>
              <a:ext uri="{FF2B5EF4-FFF2-40B4-BE49-F238E27FC236}">
                <a16:creationId xmlns:a16="http://schemas.microsoft.com/office/drawing/2014/main" id="{31994F83-8FAE-5248-A371-6D539C2DE261}"/>
              </a:ext>
            </a:extLst>
          </p:cNvPr>
          <p:cNvGraphicFramePr>
            <a:graphicFrameLocks noGrp="1"/>
          </p:cNvGraphicFramePr>
          <p:nvPr>
            <p:ph idx="1"/>
            <p:extLst>
              <p:ext uri="{D42A27DB-BD31-4B8C-83A1-F6EECF244321}">
                <p14:modId xmlns:p14="http://schemas.microsoft.com/office/powerpoint/2010/main" val="3676525428"/>
              </p:ext>
            </p:extLst>
          </p:nvPr>
        </p:nvGraphicFramePr>
        <p:xfrm>
          <a:off x="1115568" y="3596704"/>
          <a:ext cx="10168130" cy="2032773"/>
        </p:xfrm>
        <a:graphic>
          <a:graphicData uri="http://schemas.openxmlformats.org/drawingml/2006/table">
            <a:tbl>
              <a:tblPr firstRow="1" bandRow="1">
                <a:tableStyleId>{5C22544A-7EE6-4342-B048-85BDC9FD1C3A}</a:tableStyleId>
              </a:tblPr>
              <a:tblGrid>
                <a:gridCol w="4059552">
                  <a:extLst>
                    <a:ext uri="{9D8B030D-6E8A-4147-A177-3AD203B41FA5}">
                      <a16:colId xmlns:a16="http://schemas.microsoft.com/office/drawing/2014/main" val="403861815"/>
                    </a:ext>
                  </a:extLst>
                </a:gridCol>
                <a:gridCol w="3246786">
                  <a:extLst>
                    <a:ext uri="{9D8B030D-6E8A-4147-A177-3AD203B41FA5}">
                      <a16:colId xmlns:a16="http://schemas.microsoft.com/office/drawing/2014/main" val="4071662772"/>
                    </a:ext>
                  </a:extLst>
                </a:gridCol>
                <a:gridCol w="2861792">
                  <a:extLst>
                    <a:ext uri="{9D8B030D-6E8A-4147-A177-3AD203B41FA5}">
                      <a16:colId xmlns:a16="http://schemas.microsoft.com/office/drawing/2014/main" val="1274371574"/>
                    </a:ext>
                  </a:extLst>
                </a:gridCol>
              </a:tblGrid>
              <a:tr h="677591">
                <a:tc>
                  <a:txBody>
                    <a:bodyPr/>
                    <a:lstStyle/>
                    <a:p>
                      <a:r>
                        <a:rPr lang="tr-TR" sz="3000">
                          <a:latin typeface="Calibri"/>
                        </a:rPr>
                        <a:t>Approach</a:t>
                      </a:r>
                    </a:p>
                  </a:txBody>
                  <a:tcPr marL="153998" marR="153998" marT="76999" marB="76999"/>
                </a:tc>
                <a:tc>
                  <a:txBody>
                    <a:bodyPr/>
                    <a:lstStyle/>
                    <a:p>
                      <a:r>
                        <a:rPr lang="tr-TR" sz="3000">
                          <a:latin typeface="Calibri"/>
                        </a:rPr>
                        <a:t>Paper Accuracy</a:t>
                      </a:r>
                    </a:p>
                  </a:txBody>
                  <a:tcPr marL="153998" marR="153998" marT="76999" marB="76999"/>
                </a:tc>
                <a:tc>
                  <a:txBody>
                    <a:bodyPr/>
                    <a:lstStyle/>
                    <a:p>
                      <a:r>
                        <a:rPr lang="tr-TR" sz="3000">
                          <a:latin typeface="Calibri"/>
                        </a:rPr>
                        <a:t>Our Accuracy</a:t>
                      </a:r>
                    </a:p>
                  </a:txBody>
                  <a:tcPr marL="153998" marR="153998" marT="76999" marB="76999"/>
                </a:tc>
                <a:extLst>
                  <a:ext uri="{0D108BD9-81ED-4DB2-BD59-A6C34878D82A}">
                    <a16:rowId xmlns:a16="http://schemas.microsoft.com/office/drawing/2014/main" val="1499941076"/>
                  </a:ext>
                </a:extLst>
              </a:tr>
              <a:tr h="677591">
                <a:tc>
                  <a:txBody>
                    <a:bodyPr/>
                    <a:lstStyle/>
                    <a:p>
                      <a:r>
                        <a:rPr lang="tr-TR" sz="3000">
                          <a:latin typeface="Calibri"/>
                        </a:rPr>
                        <a:t>Baseline GAT</a:t>
                      </a:r>
                    </a:p>
                  </a:txBody>
                  <a:tcPr marL="153998" marR="153998" marT="76999" marB="76999"/>
                </a:tc>
                <a:tc>
                  <a:txBody>
                    <a:bodyPr/>
                    <a:lstStyle/>
                    <a:p>
                      <a:r>
                        <a:rPr lang="tr-TR" sz="3000">
                          <a:latin typeface="Calibri"/>
                        </a:rPr>
                        <a:t>83%</a:t>
                      </a:r>
                    </a:p>
                  </a:txBody>
                  <a:tcPr marL="153998" marR="153998" marT="76999" marB="76999"/>
                </a:tc>
                <a:tc>
                  <a:txBody>
                    <a:bodyPr/>
                    <a:lstStyle/>
                    <a:p>
                      <a:r>
                        <a:rPr lang="tr-TR" sz="3000">
                          <a:latin typeface="Calibri"/>
                        </a:rPr>
                        <a:t>82.10%</a:t>
                      </a:r>
                    </a:p>
                  </a:txBody>
                  <a:tcPr marL="153998" marR="153998" marT="76999" marB="76999"/>
                </a:tc>
                <a:extLst>
                  <a:ext uri="{0D108BD9-81ED-4DB2-BD59-A6C34878D82A}">
                    <a16:rowId xmlns:a16="http://schemas.microsoft.com/office/drawing/2014/main" val="2463453604"/>
                  </a:ext>
                </a:extLst>
              </a:tr>
              <a:tr h="677591">
                <a:tc>
                  <a:txBody>
                    <a:bodyPr/>
                    <a:lstStyle/>
                    <a:p>
                      <a:r>
                        <a:rPr lang="tr-TR" sz="3000">
                          <a:latin typeface="Calibri"/>
                        </a:rPr>
                        <a:t>Dynamic Head GAT </a:t>
                      </a:r>
                    </a:p>
                  </a:txBody>
                  <a:tcPr marL="153998" marR="153998" marT="76999" marB="76999"/>
                </a:tc>
                <a:tc>
                  <a:txBody>
                    <a:bodyPr/>
                    <a:lstStyle/>
                    <a:p>
                      <a:endParaRPr lang="tr-TR" sz="3000"/>
                    </a:p>
                  </a:txBody>
                  <a:tcPr marL="153998" marR="153998" marT="76999" marB="76999"/>
                </a:tc>
                <a:tc>
                  <a:txBody>
                    <a:bodyPr/>
                    <a:lstStyle/>
                    <a:p>
                      <a:r>
                        <a:rPr lang="tr-TR" sz="3000">
                          <a:latin typeface="Calibri"/>
                        </a:rPr>
                        <a:t>82.00%</a:t>
                      </a:r>
                    </a:p>
                  </a:txBody>
                  <a:tcPr marL="153998" marR="153998" marT="76999" marB="76999"/>
                </a:tc>
                <a:extLst>
                  <a:ext uri="{0D108BD9-81ED-4DB2-BD59-A6C34878D82A}">
                    <a16:rowId xmlns:a16="http://schemas.microsoft.com/office/drawing/2014/main" val="2381859561"/>
                  </a:ext>
                </a:extLst>
              </a:tr>
            </a:tbl>
          </a:graphicData>
        </a:graphic>
      </p:graphicFrame>
    </p:spTree>
    <p:extLst>
      <p:ext uri="{BB962C8B-B14F-4D97-AF65-F5344CB8AC3E}">
        <p14:creationId xmlns:p14="http://schemas.microsoft.com/office/powerpoint/2010/main" val="569903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D6A6AF9-EEA0-8DA1-B5A9-27C549FDAC8E}"/>
              </a:ext>
            </a:extLst>
          </p:cNvPr>
          <p:cNvSpPr>
            <a:spLocks noGrp="1"/>
          </p:cNvSpPr>
          <p:nvPr>
            <p:ph type="title"/>
          </p:nvPr>
        </p:nvSpPr>
        <p:spPr>
          <a:xfrm>
            <a:off x="804672" y="802955"/>
            <a:ext cx="4766330" cy="1454051"/>
          </a:xfrm>
        </p:spPr>
        <p:txBody>
          <a:bodyPr>
            <a:normAutofit/>
          </a:bodyPr>
          <a:lstStyle/>
          <a:p>
            <a:r>
              <a:rPr lang="tr-TR" sz="3600" err="1">
                <a:solidFill>
                  <a:schemeClr val="tx2"/>
                </a:solidFill>
              </a:rPr>
              <a:t>Contribution</a:t>
            </a:r>
            <a:r>
              <a:rPr lang="tr-TR" sz="3600">
                <a:solidFill>
                  <a:schemeClr val="tx2"/>
                </a:solidFill>
              </a:rPr>
              <a:t> II: </a:t>
            </a:r>
            <a:r>
              <a:rPr lang="tr-TR" sz="3600" err="1">
                <a:solidFill>
                  <a:schemeClr val="tx2"/>
                </a:solidFill>
              </a:rPr>
              <a:t>Edge-Enhanced</a:t>
            </a:r>
            <a:r>
              <a:rPr lang="tr-TR" sz="3600">
                <a:solidFill>
                  <a:schemeClr val="tx2"/>
                </a:solidFill>
              </a:rPr>
              <a:t> GAT</a:t>
            </a:r>
          </a:p>
        </p:txBody>
      </p:sp>
      <p:sp>
        <p:nvSpPr>
          <p:cNvPr id="8" name="Content Placeholder 7">
            <a:extLst>
              <a:ext uri="{FF2B5EF4-FFF2-40B4-BE49-F238E27FC236}">
                <a16:creationId xmlns:a16="http://schemas.microsoft.com/office/drawing/2014/main" id="{534C1274-5CED-057F-24B5-F52402750D7A}"/>
              </a:ext>
            </a:extLst>
          </p:cNvPr>
          <p:cNvSpPr>
            <a:spLocks noGrp="1"/>
          </p:cNvSpPr>
          <p:nvPr>
            <p:ph idx="1"/>
          </p:nvPr>
        </p:nvSpPr>
        <p:spPr>
          <a:xfrm>
            <a:off x="804672" y="2421683"/>
            <a:ext cx="4765949" cy="3353476"/>
          </a:xfrm>
        </p:spPr>
        <p:txBody>
          <a:bodyPr anchor="t">
            <a:normAutofit/>
          </a:bodyPr>
          <a:lstStyle/>
          <a:p>
            <a:r>
              <a:rPr lang="en-US" sz="2400">
                <a:solidFill>
                  <a:schemeClr val="tx2"/>
                </a:solidFill>
                <a:latin typeface="Calibri"/>
                <a:ea typeface="Calibri"/>
                <a:cs typeface="Calibri"/>
              </a:rPr>
              <a:t>The original approach depends only on the node features.</a:t>
            </a:r>
          </a:p>
          <a:p>
            <a:r>
              <a:rPr lang="en-US" sz="2400">
                <a:solidFill>
                  <a:schemeClr val="tx2"/>
                </a:solidFill>
                <a:latin typeface="Calibri"/>
                <a:ea typeface="Calibri"/>
                <a:cs typeface="Calibri"/>
              </a:rPr>
              <a:t>Idea: In domains like Chemistry, the type of connection(edge)is as important as the connected atoms(node).</a:t>
            </a:r>
          </a:p>
          <a:p>
            <a:r>
              <a:rPr lang="en-US" sz="2400">
                <a:solidFill>
                  <a:schemeClr val="tx2"/>
                </a:solidFill>
                <a:latin typeface="Calibri"/>
                <a:ea typeface="Calibri"/>
                <a:cs typeface="Calibri"/>
              </a:rPr>
              <a:t>Our goal: To incorporate edge features into the GAT attention mechanism.</a:t>
            </a: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çerik Yer Tutucusu 3" descr="çizgi film, sanat, çizim içeren bir resim&#10;&#10;Yapay zeka tarafından oluşturulmuş içerik yanlış olabilir.">
            <a:extLst>
              <a:ext uri="{FF2B5EF4-FFF2-40B4-BE49-F238E27FC236}">
                <a16:creationId xmlns:a16="http://schemas.microsoft.com/office/drawing/2014/main" id="{B63FC27D-0E95-FEEB-5ED6-BFBEF16939C9}"/>
              </a:ext>
            </a:extLst>
          </p:cNvPr>
          <p:cNvPicPr>
            <a:picLocks noChangeAspect="1"/>
          </p:cNvPicPr>
          <p:nvPr/>
        </p:nvPicPr>
        <p:blipFill>
          <a:blip r:embed="rId3"/>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4043400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FCEB10-B5C1-E44F-4408-9D1FEA3461CC}"/>
              </a:ext>
            </a:extLst>
          </p:cNvPr>
          <p:cNvSpPr>
            <a:spLocks noGrp="1"/>
          </p:cNvSpPr>
          <p:nvPr>
            <p:ph type="title"/>
          </p:nvPr>
        </p:nvSpPr>
        <p:spPr/>
        <p:txBody>
          <a:bodyPr/>
          <a:lstStyle/>
          <a:p>
            <a:r>
              <a:rPr lang="tr-TR"/>
              <a:t>Structure</a:t>
            </a:r>
          </a:p>
        </p:txBody>
      </p:sp>
      <p:sp>
        <p:nvSpPr>
          <p:cNvPr id="3" name="İçerik Yer Tutucusu 2">
            <a:extLst>
              <a:ext uri="{FF2B5EF4-FFF2-40B4-BE49-F238E27FC236}">
                <a16:creationId xmlns:a16="http://schemas.microsoft.com/office/drawing/2014/main" id="{3BB4F332-6C08-89BE-B588-2EE9612336D8}"/>
              </a:ext>
            </a:extLst>
          </p:cNvPr>
          <p:cNvSpPr>
            <a:spLocks noGrp="1"/>
          </p:cNvSpPr>
          <p:nvPr>
            <p:ph idx="1"/>
          </p:nvPr>
        </p:nvSpPr>
        <p:spPr/>
        <p:txBody>
          <a:bodyPr vert="horz" lIns="91440" tIns="45720" rIns="91440" bIns="45720" rtlCol="0" anchor="t">
            <a:normAutofit/>
          </a:bodyPr>
          <a:lstStyle/>
          <a:p>
            <a:r>
              <a:rPr lang="tr-TR" sz="2400" err="1">
                <a:latin typeface="Calibri"/>
                <a:ea typeface="Calibri"/>
                <a:cs typeface="Calibri"/>
              </a:rPr>
              <a:t>Dataset</a:t>
            </a:r>
            <a:r>
              <a:rPr lang="tr-TR" sz="2400">
                <a:latin typeface="Calibri"/>
                <a:ea typeface="Calibri"/>
                <a:cs typeface="Calibri"/>
              </a:rPr>
              <a:t> </a:t>
            </a:r>
            <a:r>
              <a:rPr lang="tr-TR" sz="2400" err="1">
                <a:latin typeface="Calibri"/>
                <a:ea typeface="Calibri"/>
                <a:cs typeface="Calibri"/>
              </a:rPr>
              <a:t>change</a:t>
            </a:r>
            <a:r>
              <a:rPr lang="tr-TR" sz="2400">
                <a:latin typeface="Calibri"/>
                <a:ea typeface="Calibri"/>
                <a:cs typeface="Calibri"/>
              </a:rPr>
              <a:t>: MUTAG </a:t>
            </a:r>
            <a:r>
              <a:rPr lang="tr-TR" sz="2400" err="1">
                <a:latin typeface="Calibri"/>
                <a:ea typeface="Calibri"/>
                <a:cs typeface="Calibri"/>
              </a:rPr>
              <a:t>dataset</a:t>
            </a:r>
            <a:r>
              <a:rPr lang="tr-TR" sz="2400">
                <a:latin typeface="Calibri"/>
                <a:ea typeface="Calibri"/>
                <a:cs typeface="Calibri"/>
              </a:rPr>
              <a:t> (</a:t>
            </a:r>
            <a:r>
              <a:rPr lang="tr-TR" sz="1000" i="1">
                <a:latin typeface="Calibri"/>
                <a:ea typeface="+mn-lt"/>
                <a:cs typeface="+mn-lt"/>
                <a:hlinkClick r:id="rId3"/>
              </a:rPr>
              <a:t>https://huggingface.co/datasets/graphs-datasets/MUTAG</a:t>
            </a:r>
            <a:r>
              <a:rPr lang="tr-TR" sz="2400">
                <a:latin typeface="Calibri"/>
                <a:ea typeface="Calibri"/>
                <a:cs typeface="Calibri"/>
              </a:rPr>
              <a:t>)</a:t>
            </a:r>
          </a:p>
          <a:p>
            <a:r>
              <a:rPr lang="tr-TR" sz="2400" err="1">
                <a:latin typeface="Calibri"/>
                <a:ea typeface="Calibri"/>
                <a:cs typeface="Calibri"/>
              </a:rPr>
              <a:t>Proposed</a:t>
            </a:r>
            <a:r>
              <a:rPr lang="tr-TR" sz="2400">
                <a:latin typeface="Calibri"/>
                <a:ea typeface="Calibri"/>
                <a:cs typeface="Calibri"/>
              </a:rPr>
              <a:t> </a:t>
            </a:r>
            <a:r>
              <a:rPr lang="tr-TR" sz="2400" err="1">
                <a:latin typeface="Calibri"/>
                <a:ea typeface="Calibri"/>
                <a:cs typeface="Calibri"/>
              </a:rPr>
              <a:t>formula</a:t>
            </a:r>
            <a:r>
              <a:rPr lang="tr-TR" sz="2400">
                <a:latin typeface="Calibri"/>
                <a:ea typeface="Calibri"/>
                <a:cs typeface="Calibri"/>
              </a:rPr>
              <a:t>:</a:t>
            </a:r>
          </a:p>
          <a:p>
            <a:r>
              <a:rPr lang="tr-TR" sz="2400" err="1">
                <a:latin typeface="Calibri"/>
                <a:ea typeface="Calibri"/>
                <a:cs typeface="Calibri"/>
              </a:rPr>
              <a:t>Implementation</a:t>
            </a:r>
            <a:r>
              <a:rPr lang="tr-TR" sz="2400">
                <a:latin typeface="Calibri"/>
                <a:ea typeface="Calibri"/>
                <a:cs typeface="Calibri"/>
              </a:rPr>
              <a:t>:</a:t>
            </a:r>
          </a:p>
          <a:p>
            <a:pPr lvl="1">
              <a:buFont typeface="Courier New" panose="020B0604020202020204" pitchFamily="34" charset="0"/>
              <a:buChar char="o"/>
            </a:pPr>
            <a:r>
              <a:rPr lang="tr-TR" sz="2000">
                <a:latin typeface="Calibri"/>
                <a:ea typeface="Calibri"/>
                <a:cs typeface="Calibri"/>
              </a:rPr>
              <a:t>Base </a:t>
            </a:r>
            <a:r>
              <a:rPr lang="tr-TR" sz="2000" err="1">
                <a:latin typeface="Calibri"/>
                <a:ea typeface="Calibri"/>
                <a:cs typeface="Calibri"/>
              </a:rPr>
              <a:t>class</a:t>
            </a:r>
            <a:r>
              <a:rPr lang="tr-TR" sz="2000">
                <a:latin typeface="Calibri"/>
                <a:ea typeface="Calibri"/>
                <a:cs typeface="Calibri"/>
              </a:rPr>
              <a:t>: </a:t>
            </a:r>
            <a:r>
              <a:rPr lang="tr-TR" sz="2000" err="1">
                <a:latin typeface="Calibri"/>
                <a:ea typeface="Calibri"/>
                <a:cs typeface="Calibri"/>
              </a:rPr>
              <a:t>Inherited</a:t>
            </a:r>
            <a:r>
              <a:rPr lang="tr-TR" sz="2000">
                <a:latin typeface="Calibri"/>
                <a:ea typeface="Calibri"/>
                <a:cs typeface="Calibri"/>
              </a:rPr>
              <a:t> </a:t>
            </a:r>
            <a:r>
              <a:rPr lang="tr-TR" sz="2000" err="1">
                <a:latin typeface="Calibri"/>
                <a:ea typeface="Calibri"/>
                <a:cs typeface="Calibri"/>
              </a:rPr>
              <a:t>from</a:t>
            </a:r>
            <a:r>
              <a:rPr lang="tr-TR" sz="2000">
                <a:latin typeface="Calibri"/>
                <a:ea typeface="Calibri"/>
                <a:cs typeface="Calibri"/>
              </a:rPr>
              <a:t> "</a:t>
            </a:r>
            <a:r>
              <a:rPr lang="tr-TR" sz="2000" err="1">
                <a:latin typeface="Calibri"/>
                <a:ea typeface="Calibri"/>
                <a:cs typeface="Calibri"/>
              </a:rPr>
              <a:t>torch_geometric.nn.MessagePassing</a:t>
            </a:r>
            <a:r>
              <a:rPr lang="tr-TR" sz="2000">
                <a:latin typeface="Calibri"/>
                <a:ea typeface="Calibri"/>
                <a:cs typeface="Calibri"/>
              </a:rPr>
              <a:t>".</a:t>
            </a:r>
          </a:p>
          <a:p>
            <a:pPr lvl="1">
              <a:buFont typeface="Courier New" panose="020B0604020202020204" pitchFamily="34" charset="0"/>
              <a:buChar char="o"/>
            </a:pPr>
            <a:r>
              <a:rPr lang="tr-TR" sz="2000" err="1">
                <a:latin typeface="Calibri"/>
                <a:ea typeface="Calibri"/>
                <a:cs typeface="Calibri"/>
              </a:rPr>
              <a:t>Projection</a:t>
            </a:r>
            <a:r>
              <a:rPr lang="tr-TR" sz="2000">
                <a:latin typeface="Calibri"/>
                <a:ea typeface="Calibri"/>
                <a:cs typeface="Calibri"/>
              </a:rPr>
              <a:t>: </a:t>
            </a:r>
            <a:r>
              <a:rPr lang="tr-TR" sz="2000" err="1">
                <a:latin typeface="Calibri"/>
                <a:ea typeface="Calibri"/>
                <a:cs typeface="Calibri"/>
              </a:rPr>
              <a:t>Added</a:t>
            </a:r>
            <a:r>
              <a:rPr lang="tr-TR" sz="2000">
                <a:latin typeface="Calibri"/>
                <a:ea typeface="Calibri"/>
                <a:cs typeface="Calibri"/>
              </a:rPr>
              <a:t> a </a:t>
            </a:r>
            <a:r>
              <a:rPr lang="tr-TR" sz="2000" err="1">
                <a:latin typeface="Calibri"/>
                <a:ea typeface="Calibri"/>
                <a:cs typeface="Calibri"/>
              </a:rPr>
              <a:t>dedicated</a:t>
            </a:r>
            <a:r>
              <a:rPr lang="tr-TR" sz="2000">
                <a:latin typeface="Calibri"/>
                <a:ea typeface="Calibri"/>
                <a:cs typeface="Calibri"/>
              </a:rPr>
              <a:t> </a:t>
            </a:r>
            <a:r>
              <a:rPr lang="tr-TR" sz="2000" err="1">
                <a:latin typeface="Calibri"/>
                <a:ea typeface="Calibri"/>
                <a:cs typeface="Calibri"/>
              </a:rPr>
              <a:t>learnable</a:t>
            </a:r>
            <a:r>
              <a:rPr lang="tr-TR" sz="2000">
                <a:latin typeface="Calibri"/>
                <a:ea typeface="Calibri"/>
                <a:cs typeface="Calibri"/>
              </a:rPr>
              <a:t> </a:t>
            </a:r>
            <a:r>
              <a:rPr lang="tr-TR" sz="2000" err="1">
                <a:latin typeface="Calibri"/>
                <a:ea typeface="Calibri"/>
                <a:cs typeface="Calibri"/>
              </a:rPr>
              <a:t>Linear</a:t>
            </a:r>
            <a:r>
              <a:rPr lang="tr-TR" sz="2000">
                <a:latin typeface="Calibri"/>
                <a:ea typeface="Calibri"/>
                <a:cs typeface="Calibri"/>
              </a:rPr>
              <a:t> </a:t>
            </a:r>
            <a:r>
              <a:rPr lang="tr-TR" sz="2000" err="1">
                <a:latin typeface="Calibri"/>
                <a:ea typeface="Calibri"/>
                <a:cs typeface="Calibri"/>
              </a:rPr>
              <a:t>layer</a:t>
            </a:r>
            <a:r>
              <a:rPr lang="tr-TR" sz="2000">
                <a:latin typeface="Calibri"/>
                <a:ea typeface="Calibri"/>
                <a:cs typeface="Calibri"/>
              </a:rPr>
              <a:t> </a:t>
            </a:r>
            <a:r>
              <a:rPr lang="tr-TR" sz="2000" err="1">
                <a:latin typeface="Calibri"/>
                <a:ea typeface="Calibri"/>
                <a:cs typeface="Calibri"/>
              </a:rPr>
              <a:t>to</a:t>
            </a:r>
            <a:r>
              <a:rPr lang="tr-TR" sz="2000">
                <a:latin typeface="Calibri"/>
                <a:ea typeface="Calibri"/>
                <a:cs typeface="Calibri"/>
              </a:rPr>
              <a:t> </a:t>
            </a:r>
            <a:r>
              <a:rPr lang="tr-TR" sz="2000" err="1">
                <a:latin typeface="Calibri"/>
                <a:ea typeface="Calibri"/>
                <a:cs typeface="Calibri"/>
              </a:rPr>
              <a:t>project</a:t>
            </a:r>
            <a:r>
              <a:rPr lang="tr-TR" sz="2000">
                <a:latin typeface="Calibri"/>
                <a:ea typeface="Calibri"/>
                <a:cs typeface="Calibri"/>
              </a:rPr>
              <a:t> </a:t>
            </a:r>
            <a:r>
              <a:rPr lang="tr-TR" sz="2000" err="1">
                <a:latin typeface="Calibri"/>
                <a:ea typeface="Calibri"/>
                <a:cs typeface="Calibri"/>
              </a:rPr>
              <a:t>edge</a:t>
            </a:r>
            <a:r>
              <a:rPr lang="tr-TR" sz="2000">
                <a:latin typeface="Calibri"/>
                <a:ea typeface="Calibri"/>
                <a:cs typeface="Calibri"/>
              </a:rPr>
              <a:t> </a:t>
            </a:r>
            <a:r>
              <a:rPr lang="tr-TR" sz="2000" err="1">
                <a:latin typeface="Calibri"/>
                <a:ea typeface="Calibri"/>
                <a:cs typeface="Calibri"/>
              </a:rPr>
              <a:t>attributes</a:t>
            </a:r>
            <a:r>
              <a:rPr lang="tr-TR" sz="2000">
                <a:latin typeface="Calibri"/>
                <a:ea typeface="Calibri"/>
                <a:cs typeface="Calibri"/>
              </a:rPr>
              <a:t> </a:t>
            </a:r>
            <a:r>
              <a:rPr lang="tr-TR" sz="2000" err="1">
                <a:latin typeface="Calibri"/>
                <a:ea typeface="Calibri"/>
                <a:cs typeface="Calibri"/>
              </a:rPr>
              <a:t>to</a:t>
            </a:r>
            <a:r>
              <a:rPr lang="tr-TR" sz="2000">
                <a:latin typeface="Calibri"/>
                <a:ea typeface="Calibri"/>
                <a:cs typeface="Calibri"/>
              </a:rPr>
              <a:t> </a:t>
            </a:r>
            <a:r>
              <a:rPr lang="tr-TR" sz="2000" err="1">
                <a:latin typeface="Calibri"/>
                <a:ea typeface="Calibri"/>
                <a:cs typeface="Calibri"/>
              </a:rPr>
              <a:t>the</a:t>
            </a:r>
            <a:r>
              <a:rPr lang="tr-TR" sz="2000">
                <a:latin typeface="Calibri"/>
                <a:ea typeface="Calibri"/>
                <a:cs typeface="Calibri"/>
              </a:rPr>
              <a:t> </a:t>
            </a:r>
            <a:r>
              <a:rPr lang="tr-TR" sz="2000" err="1">
                <a:latin typeface="Calibri"/>
                <a:ea typeface="Calibri"/>
                <a:cs typeface="Calibri"/>
              </a:rPr>
              <a:t>hidden</a:t>
            </a:r>
            <a:r>
              <a:rPr lang="tr-TR" sz="2000">
                <a:latin typeface="Calibri"/>
                <a:ea typeface="Calibri"/>
                <a:cs typeface="Calibri"/>
              </a:rPr>
              <a:t> </a:t>
            </a:r>
            <a:r>
              <a:rPr lang="tr-TR" sz="2000" err="1">
                <a:latin typeface="Calibri"/>
                <a:ea typeface="Calibri"/>
                <a:cs typeface="Calibri"/>
              </a:rPr>
              <a:t>dimension</a:t>
            </a:r>
            <a:r>
              <a:rPr lang="tr-TR" sz="2000">
                <a:latin typeface="Calibri"/>
                <a:ea typeface="Calibri"/>
                <a:cs typeface="Calibri"/>
              </a:rPr>
              <a:t>.</a:t>
            </a:r>
          </a:p>
          <a:p>
            <a:pPr lvl="1">
              <a:buFont typeface="Courier New" panose="020B0604020202020204" pitchFamily="34" charset="0"/>
              <a:buChar char="o"/>
            </a:pPr>
            <a:r>
              <a:rPr lang="tr-TR" sz="2000" err="1">
                <a:latin typeface="Calibri"/>
                <a:ea typeface="Calibri"/>
                <a:cs typeface="Calibri"/>
              </a:rPr>
              <a:t>Logic</a:t>
            </a:r>
            <a:r>
              <a:rPr lang="tr-TR" sz="2000">
                <a:latin typeface="Calibri"/>
                <a:ea typeface="Calibri"/>
                <a:cs typeface="Calibri"/>
              </a:rPr>
              <a:t>: </a:t>
            </a:r>
            <a:r>
              <a:rPr lang="tr-TR" sz="2000" err="1">
                <a:latin typeface="Calibri"/>
                <a:ea typeface="Calibri"/>
                <a:cs typeface="Calibri"/>
              </a:rPr>
              <a:t>Overrode</a:t>
            </a:r>
            <a:r>
              <a:rPr lang="tr-TR" sz="2000">
                <a:latin typeface="Calibri"/>
                <a:ea typeface="Calibri"/>
                <a:cs typeface="Calibri"/>
              </a:rPr>
              <a:t> </a:t>
            </a:r>
            <a:r>
              <a:rPr lang="tr-TR" sz="2000" err="1">
                <a:latin typeface="Calibri"/>
                <a:ea typeface="Calibri"/>
                <a:cs typeface="Calibri"/>
              </a:rPr>
              <a:t>the</a:t>
            </a:r>
            <a:r>
              <a:rPr lang="tr-TR" sz="2000">
                <a:latin typeface="Calibri"/>
                <a:ea typeface="Calibri"/>
                <a:cs typeface="Calibri"/>
              </a:rPr>
              <a:t> </a:t>
            </a:r>
            <a:r>
              <a:rPr lang="tr-TR" sz="2000" err="1">
                <a:latin typeface="Calibri"/>
                <a:ea typeface="Calibri"/>
                <a:cs typeface="Calibri"/>
              </a:rPr>
              <a:t>message</a:t>
            </a:r>
            <a:r>
              <a:rPr lang="tr-TR" sz="2000">
                <a:latin typeface="Calibri"/>
                <a:ea typeface="Calibri"/>
                <a:cs typeface="Calibri"/>
              </a:rPr>
              <a:t> </a:t>
            </a:r>
            <a:r>
              <a:rPr lang="tr-TR" sz="2000" err="1">
                <a:latin typeface="Calibri"/>
                <a:ea typeface="Calibri"/>
                <a:cs typeface="Calibri"/>
              </a:rPr>
              <a:t>function</a:t>
            </a:r>
            <a:r>
              <a:rPr lang="tr-TR" sz="2000">
                <a:latin typeface="Calibri"/>
                <a:ea typeface="Calibri"/>
                <a:cs typeface="Calibri"/>
              </a:rPr>
              <a:t> </a:t>
            </a:r>
            <a:r>
              <a:rPr lang="tr-TR" sz="2000" err="1">
                <a:latin typeface="Calibri"/>
                <a:ea typeface="Calibri"/>
                <a:cs typeface="Calibri"/>
              </a:rPr>
              <a:t>to</a:t>
            </a:r>
            <a:r>
              <a:rPr lang="tr-TR" sz="2000">
                <a:latin typeface="Calibri"/>
                <a:ea typeface="Calibri"/>
                <a:cs typeface="Calibri"/>
              </a:rPr>
              <a:t> </a:t>
            </a:r>
            <a:r>
              <a:rPr lang="tr-TR" sz="2000" err="1">
                <a:latin typeface="Calibri"/>
                <a:ea typeface="Calibri"/>
                <a:cs typeface="Calibri"/>
              </a:rPr>
              <a:t>perform</a:t>
            </a:r>
            <a:r>
              <a:rPr lang="tr-TR" sz="2000">
                <a:latin typeface="Calibri"/>
                <a:ea typeface="Calibri"/>
                <a:cs typeface="Calibri"/>
              </a:rPr>
              <a:t> 3-way </a:t>
            </a:r>
            <a:r>
              <a:rPr lang="tr-TR" sz="2000" err="1">
                <a:latin typeface="Calibri"/>
                <a:ea typeface="Calibri"/>
                <a:cs typeface="Calibri"/>
              </a:rPr>
              <a:t>concatenation</a:t>
            </a:r>
            <a:r>
              <a:rPr lang="tr-TR" sz="2000">
                <a:latin typeface="Calibri"/>
                <a:ea typeface="Calibri"/>
                <a:cs typeface="Calibri"/>
              </a:rPr>
              <a:t>(</a:t>
            </a:r>
            <a:r>
              <a:rPr lang="tr-TR" sz="2000" err="1">
                <a:latin typeface="Calibri"/>
                <a:ea typeface="Calibri"/>
                <a:cs typeface="Calibri"/>
              </a:rPr>
              <a:t>source</a:t>
            </a:r>
            <a:r>
              <a:rPr lang="tr-TR" sz="2000">
                <a:latin typeface="Calibri"/>
                <a:ea typeface="Calibri"/>
                <a:cs typeface="Calibri"/>
              </a:rPr>
              <a:t> </a:t>
            </a:r>
            <a:r>
              <a:rPr lang="tr-TR" sz="2000" err="1">
                <a:latin typeface="Calibri"/>
                <a:ea typeface="Calibri"/>
                <a:cs typeface="Calibri"/>
              </a:rPr>
              <a:t>node</a:t>
            </a:r>
            <a:r>
              <a:rPr lang="tr-TR" sz="2000">
                <a:latin typeface="Calibri"/>
                <a:ea typeface="Calibri"/>
                <a:cs typeface="Calibri"/>
              </a:rPr>
              <a:t> + </a:t>
            </a:r>
            <a:r>
              <a:rPr lang="tr-TR" sz="2000" err="1">
                <a:latin typeface="Calibri"/>
                <a:ea typeface="Calibri"/>
                <a:cs typeface="Calibri"/>
              </a:rPr>
              <a:t>target</a:t>
            </a:r>
            <a:r>
              <a:rPr lang="tr-TR" sz="2000">
                <a:latin typeface="Calibri"/>
                <a:ea typeface="Calibri"/>
                <a:cs typeface="Calibri"/>
              </a:rPr>
              <a:t> </a:t>
            </a:r>
            <a:r>
              <a:rPr lang="tr-TR" sz="2000" err="1">
                <a:latin typeface="Calibri"/>
                <a:ea typeface="Calibri"/>
                <a:cs typeface="Calibri"/>
              </a:rPr>
              <a:t>node</a:t>
            </a:r>
            <a:r>
              <a:rPr lang="tr-TR" sz="2000">
                <a:latin typeface="Calibri"/>
                <a:ea typeface="Calibri"/>
                <a:cs typeface="Calibri"/>
              </a:rPr>
              <a:t> + </a:t>
            </a:r>
            <a:r>
              <a:rPr lang="tr-TR" sz="2000" err="1">
                <a:latin typeface="Calibri"/>
                <a:ea typeface="Calibri"/>
                <a:cs typeface="Calibri"/>
              </a:rPr>
              <a:t>edge</a:t>
            </a:r>
            <a:r>
              <a:rPr lang="tr-TR" sz="2000">
                <a:latin typeface="Calibri"/>
                <a:ea typeface="Calibri"/>
                <a:cs typeface="Calibri"/>
              </a:rPr>
              <a:t> </a:t>
            </a:r>
            <a:r>
              <a:rPr lang="tr-TR" sz="2000" err="1">
                <a:latin typeface="Calibri"/>
                <a:ea typeface="Calibri"/>
                <a:cs typeface="Calibri"/>
              </a:rPr>
              <a:t>between</a:t>
            </a:r>
            <a:r>
              <a:rPr lang="tr-TR" sz="2000">
                <a:latin typeface="Calibri"/>
                <a:ea typeface="Calibri"/>
                <a:cs typeface="Calibri"/>
              </a:rPr>
              <a:t> </a:t>
            </a:r>
            <a:r>
              <a:rPr lang="tr-TR" sz="2000" err="1">
                <a:latin typeface="Calibri"/>
                <a:ea typeface="Calibri"/>
                <a:cs typeface="Calibri"/>
              </a:rPr>
              <a:t>them</a:t>
            </a:r>
            <a:r>
              <a:rPr lang="tr-TR" sz="2000">
                <a:latin typeface="Calibri"/>
                <a:ea typeface="Calibri"/>
                <a:cs typeface="Calibri"/>
              </a:rPr>
              <a:t>) </a:t>
            </a:r>
            <a:r>
              <a:rPr lang="tr-TR" sz="2000" err="1">
                <a:latin typeface="Calibri"/>
                <a:ea typeface="Calibri"/>
                <a:cs typeface="Calibri"/>
              </a:rPr>
              <a:t>before</a:t>
            </a:r>
            <a:r>
              <a:rPr lang="tr-TR" sz="2000">
                <a:latin typeface="Calibri"/>
                <a:ea typeface="Calibri"/>
                <a:cs typeface="Calibri"/>
              </a:rPr>
              <a:t> </a:t>
            </a:r>
            <a:r>
              <a:rPr lang="tr-TR" sz="2000" err="1">
                <a:latin typeface="Calibri"/>
                <a:ea typeface="Calibri"/>
                <a:cs typeface="Calibri"/>
              </a:rPr>
              <a:t>the</a:t>
            </a:r>
            <a:r>
              <a:rPr lang="tr-TR" sz="2000">
                <a:latin typeface="Calibri"/>
                <a:ea typeface="Calibri"/>
                <a:cs typeface="Calibri"/>
              </a:rPr>
              <a:t> </a:t>
            </a:r>
            <a:r>
              <a:rPr lang="tr-TR" sz="2000" err="1">
                <a:latin typeface="Calibri"/>
                <a:ea typeface="Calibri"/>
                <a:cs typeface="Calibri"/>
              </a:rPr>
              <a:t>attention</a:t>
            </a:r>
            <a:r>
              <a:rPr lang="tr-TR" sz="2000">
                <a:latin typeface="Calibri"/>
                <a:ea typeface="Calibri"/>
                <a:cs typeface="Calibri"/>
              </a:rPr>
              <a:t> </a:t>
            </a:r>
            <a:r>
              <a:rPr lang="tr-TR" sz="2000" err="1">
                <a:latin typeface="Calibri"/>
                <a:ea typeface="Calibri"/>
                <a:cs typeface="Calibri"/>
              </a:rPr>
              <a:t>calculation</a:t>
            </a:r>
            <a:r>
              <a:rPr lang="tr-TR" sz="2000">
                <a:latin typeface="Calibri"/>
                <a:ea typeface="Calibri"/>
                <a:cs typeface="Calibri"/>
              </a:rPr>
              <a:t>.</a:t>
            </a:r>
          </a:p>
        </p:txBody>
      </p:sp>
      <p:pic>
        <p:nvPicPr>
          <p:cNvPr id="6" name="Resim 5">
            <a:extLst>
              <a:ext uri="{FF2B5EF4-FFF2-40B4-BE49-F238E27FC236}">
                <a16:creationId xmlns:a16="http://schemas.microsoft.com/office/drawing/2014/main" id="{696E7E6F-9D62-8BD6-082C-B615D40A3566}"/>
              </a:ext>
            </a:extLst>
          </p:cNvPr>
          <p:cNvPicPr>
            <a:picLocks noChangeAspect="1"/>
          </p:cNvPicPr>
          <p:nvPr/>
        </p:nvPicPr>
        <p:blipFill>
          <a:blip r:embed="rId4"/>
          <a:stretch>
            <a:fillRect/>
          </a:stretch>
        </p:blipFill>
        <p:spPr>
          <a:xfrm>
            <a:off x="3547005" y="2304521"/>
            <a:ext cx="3425825" cy="418042"/>
          </a:xfrm>
          <a:prstGeom prst="rect">
            <a:avLst/>
          </a:prstGeom>
        </p:spPr>
      </p:pic>
    </p:spTree>
    <p:extLst>
      <p:ext uri="{BB962C8B-B14F-4D97-AF65-F5344CB8AC3E}">
        <p14:creationId xmlns:p14="http://schemas.microsoft.com/office/powerpoint/2010/main" val="981937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9F2CE3-C877-F81E-0811-CE396031585B}"/>
              </a:ext>
            </a:extLst>
          </p:cNvPr>
          <p:cNvSpPr>
            <a:spLocks noGrp="1"/>
          </p:cNvSpPr>
          <p:nvPr>
            <p:ph type="title"/>
          </p:nvPr>
        </p:nvSpPr>
        <p:spPr/>
        <p:txBody>
          <a:bodyPr/>
          <a:lstStyle/>
          <a:p>
            <a:r>
              <a:rPr lang="tr-TR" err="1"/>
              <a:t>Results</a:t>
            </a:r>
          </a:p>
        </p:txBody>
      </p:sp>
      <p:graphicFrame>
        <p:nvGraphicFramePr>
          <p:cNvPr id="4" name="İçerik Yer Tutucusu 3">
            <a:extLst>
              <a:ext uri="{FF2B5EF4-FFF2-40B4-BE49-F238E27FC236}">
                <a16:creationId xmlns:a16="http://schemas.microsoft.com/office/drawing/2014/main" id="{9EE92203-AF88-3312-9A57-8F458EF335DA}"/>
              </a:ext>
            </a:extLst>
          </p:cNvPr>
          <p:cNvGraphicFramePr>
            <a:graphicFrameLocks noGrp="1"/>
          </p:cNvGraphicFramePr>
          <p:nvPr>
            <p:ph idx="1"/>
            <p:extLst>
              <p:ext uri="{D42A27DB-BD31-4B8C-83A1-F6EECF244321}">
                <p14:modId xmlns:p14="http://schemas.microsoft.com/office/powerpoint/2010/main" val="2910815888"/>
              </p:ext>
            </p:extLst>
          </p:nvPr>
        </p:nvGraphicFramePr>
        <p:xfrm>
          <a:off x="838200" y="1825625"/>
          <a:ext cx="10515600" cy="1483360"/>
        </p:xfrm>
        <a:graphic>
          <a:graphicData uri="http://schemas.openxmlformats.org/drawingml/2006/table">
            <a:tbl>
              <a:tblPr firstRow="1" bandRow="1">
                <a:tableStyleId>{69012ECD-51FC-41F1-AA8D-1B2483CD663E}</a:tableStyleId>
              </a:tblPr>
              <a:tblGrid>
                <a:gridCol w="3505200">
                  <a:extLst>
                    <a:ext uri="{9D8B030D-6E8A-4147-A177-3AD203B41FA5}">
                      <a16:colId xmlns:a16="http://schemas.microsoft.com/office/drawing/2014/main" val="860979341"/>
                    </a:ext>
                  </a:extLst>
                </a:gridCol>
                <a:gridCol w="3505200">
                  <a:extLst>
                    <a:ext uri="{9D8B030D-6E8A-4147-A177-3AD203B41FA5}">
                      <a16:colId xmlns:a16="http://schemas.microsoft.com/office/drawing/2014/main" val="3648146952"/>
                    </a:ext>
                  </a:extLst>
                </a:gridCol>
                <a:gridCol w="3505200">
                  <a:extLst>
                    <a:ext uri="{9D8B030D-6E8A-4147-A177-3AD203B41FA5}">
                      <a16:colId xmlns:a16="http://schemas.microsoft.com/office/drawing/2014/main" val="176272086"/>
                    </a:ext>
                  </a:extLst>
                </a:gridCol>
              </a:tblGrid>
              <a:tr h="370840">
                <a:tc>
                  <a:txBody>
                    <a:bodyPr/>
                    <a:lstStyle/>
                    <a:p>
                      <a:r>
                        <a:rPr lang="tr-TR"/>
                        <a:t>MODEL</a:t>
                      </a:r>
                    </a:p>
                  </a:txBody>
                  <a:tcPr/>
                </a:tc>
                <a:tc>
                  <a:txBody>
                    <a:bodyPr/>
                    <a:lstStyle/>
                    <a:p>
                      <a:r>
                        <a:rPr lang="tr-TR"/>
                        <a:t>DESCRIPTION</a:t>
                      </a:r>
                    </a:p>
                  </a:txBody>
                  <a:tcPr/>
                </a:tc>
                <a:tc>
                  <a:txBody>
                    <a:bodyPr/>
                    <a:lstStyle/>
                    <a:p>
                      <a:r>
                        <a:rPr lang="tr-TR"/>
                        <a:t>ACCURACY</a:t>
                      </a:r>
                    </a:p>
                  </a:txBody>
                  <a:tcPr/>
                </a:tc>
                <a:extLst>
                  <a:ext uri="{0D108BD9-81ED-4DB2-BD59-A6C34878D82A}">
                    <a16:rowId xmlns:a16="http://schemas.microsoft.com/office/drawing/2014/main" val="1490859436"/>
                  </a:ext>
                </a:extLst>
              </a:tr>
              <a:tr h="370840">
                <a:tc>
                  <a:txBody>
                    <a:bodyPr/>
                    <a:lstStyle/>
                    <a:p>
                      <a:r>
                        <a:rPr lang="tr-TR" err="1"/>
                        <a:t>Baseline</a:t>
                      </a:r>
                    </a:p>
                  </a:txBody>
                  <a:tcPr/>
                </a:tc>
                <a:tc>
                  <a:txBody>
                    <a:bodyPr/>
                    <a:lstStyle/>
                    <a:p>
                      <a:r>
                        <a:rPr lang="tr-TR" err="1"/>
                        <a:t>Original</a:t>
                      </a:r>
                      <a:r>
                        <a:rPr lang="tr-TR"/>
                        <a:t> GAT(</a:t>
                      </a:r>
                      <a:r>
                        <a:rPr lang="tr-TR" err="1"/>
                        <a:t>node</a:t>
                      </a:r>
                      <a:r>
                        <a:rPr lang="tr-TR"/>
                        <a:t> </a:t>
                      </a:r>
                      <a:r>
                        <a:rPr lang="tr-TR" err="1"/>
                        <a:t>only</a:t>
                      </a:r>
                      <a:r>
                        <a:rPr lang="tr-TR"/>
                        <a:t>)</a:t>
                      </a:r>
                    </a:p>
                  </a:txBody>
                  <a:tcPr/>
                </a:tc>
                <a:tc>
                  <a:txBody>
                    <a:bodyPr/>
                    <a:lstStyle/>
                    <a:p>
                      <a:r>
                        <a:rPr lang="tr-TR"/>
                        <a:t>72.95%</a:t>
                      </a:r>
                    </a:p>
                  </a:txBody>
                  <a:tcPr/>
                </a:tc>
                <a:extLst>
                  <a:ext uri="{0D108BD9-81ED-4DB2-BD59-A6C34878D82A}">
                    <a16:rowId xmlns:a16="http://schemas.microsoft.com/office/drawing/2014/main" val="944723425"/>
                  </a:ext>
                </a:extLst>
              </a:tr>
              <a:tr h="370840">
                <a:tc>
                  <a:txBody>
                    <a:bodyPr/>
                    <a:lstStyle/>
                    <a:p>
                      <a:r>
                        <a:rPr lang="tr-TR" err="1"/>
                        <a:t>PyG</a:t>
                      </a:r>
                      <a:r>
                        <a:rPr lang="tr-TR"/>
                        <a:t> </a:t>
                      </a:r>
                      <a:r>
                        <a:rPr lang="tr-TR" err="1"/>
                        <a:t>Built</a:t>
                      </a:r>
                      <a:r>
                        <a:rPr lang="tr-TR"/>
                        <a:t>-in</a:t>
                      </a:r>
                    </a:p>
                  </a:txBody>
                  <a:tcPr/>
                </a:tc>
                <a:tc>
                  <a:txBody>
                    <a:bodyPr/>
                    <a:lstStyle/>
                    <a:p>
                      <a:r>
                        <a:rPr lang="tr-TR"/>
                        <a:t>Standard Library </a:t>
                      </a:r>
                      <a:r>
                        <a:rPr lang="tr-TR" err="1"/>
                        <a:t>with</a:t>
                      </a:r>
                      <a:r>
                        <a:rPr lang="tr-TR"/>
                        <a:t> </a:t>
                      </a:r>
                      <a:r>
                        <a:rPr lang="tr-TR" err="1"/>
                        <a:t>edges</a:t>
                      </a:r>
                    </a:p>
                  </a:txBody>
                  <a:tcPr/>
                </a:tc>
                <a:tc>
                  <a:txBody>
                    <a:bodyPr/>
                    <a:lstStyle/>
                    <a:p>
                      <a:r>
                        <a:rPr lang="tr-TR"/>
                        <a:t>75.06%</a:t>
                      </a:r>
                    </a:p>
                  </a:txBody>
                  <a:tcPr/>
                </a:tc>
                <a:extLst>
                  <a:ext uri="{0D108BD9-81ED-4DB2-BD59-A6C34878D82A}">
                    <a16:rowId xmlns:a16="http://schemas.microsoft.com/office/drawing/2014/main" val="724727967"/>
                  </a:ext>
                </a:extLst>
              </a:tr>
              <a:tr h="370840">
                <a:tc>
                  <a:txBody>
                    <a:bodyPr/>
                    <a:lstStyle/>
                    <a:p>
                      <a:r>
                        <a:rPr lang="tr-TR" err="1"/>
                        <a:t>Scratch</a:t>
                      </a:r>
                    </a:p>
                  </a:txBody>
                  <a:tcPr/>
                </a:tc>
                <a:tc>
                  <a:txBody>
                    <a:bodyPr/>
                    <a:lstStyle/>
                    <a:p>
                      <a:r>
                        <a:rPr lang="tr-TR" err="1"/>
                        <a:t>Custom</a:t>
                      </a:r>
                      <a:r>
                        <a:rPr lang="tr-TR"/>
                        <a:t> </a:t>
                      </a:r>
                      <a:r>
                        <a:rPr lang="tr-TR" err="1"/>
                        <a:t>edge-enhanced</a:t>
                      </a:r>
                      <a:r>
                        <a:rPr lang="tr-TR"/>
                        <a:t> </a:t>
                      </a:r>
                    </a:p>
                  </a:txBody>
                  <a:tcPr/>
                </a:tc>
                <a:tc>
                  <a:txBody>
                    <a:bodyPr/>
                    <a:lstStyle/>
                    <a:p>
                      <a:r>
                        <a:rPr lang="tr-TR"/>
                        <a:t>77.22%</a:t>
                      </a:r>
                    </a:p>
                  </a:txBody>
                  <a:tcPr/>
                </a:tc>
                <a:extLst>
                  <a:ext uri="{0D108BD9-81ED-4DB2-BD59-A6C34878D82A}">
                    <a16:rowId xmlns:a16="http://schemas.microsoft.com/office/drawing/2014/main" val="2075945129"/>
                  </a:ext>
                </a:extLst>
              </a:tr>
            </a:tbl>
          </a:graphicData>
        </a:graphic>
      </p:graphicFrame>
    </p:spTree>
    <p:extLst>
      <p:ext uri="{BB962C8B-B14F-4D97-AF65-F5344CB8AC3E}">
        <p14:creationId xmlns:p14="http://schemas.microsoft.com/office/powerpoint/2010/main" val="699603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8327C71-B066-C715-3CFA-5F8475946B27}"/>
              </a:ext>
            </a:extLst>
          </p:cNvPr>
          <p:cNvSpPr>
            <a:spLocks noGrp="1"/>
          </p:cNvSpPr>
          <p:nvPr>
            <p:ph type="title"/>
          </p:nvPr>
        </p:nvSpPr>
        <p:spPr/>
        <p:txBody>
          <a:bodyPr/>
          <a:lstStyle/>
          <a:p>
            <a:r>
              <a:rPr lang="tr-TR" err="1"/>
              <a:t>Criticism</a:t>
            </a:r>
            <a:endParaRPr lang="tr-TR"/>
          </a:p>
        </p:txBody>
      </p:sp>
      <p:sp>
        <p:nvSpPr>
          <p:cNvPr id="3" name="İçerik Yer Tutucusu 2">
            <a:extLst>
              <a:ext uri="{FF2B5EF4-FFF2-40B4-BE49-F238E27FC236}">
                <a16:creationId xmlns:a16="http://schemas.microsoft.com/office/drawing/2014/main" id="{628B83E3-C02C-61DB-8137-CD22090A68B4}"/>
              </a:ext>
            </a:extLst>
          </p:cNvPr>
          <p:cNvSpPr>
            <a:spLocks noGrp="1"/>
          </p:cNvSpPr>
          <p:nvPr>
            <p:ph idx="1"/>
          </p:nvPr>
        </p:nvSpPr>
        <p:spPr/>
        <p:txBody>
          <a:bodyPr vert="horz" lIns="91440" tIns="45720" rIns="91440" bIns="45720" rtlCol="0" anchor="t">
            <a:normAutofit/>
          </a:bodyPr>
          <a:lstStyle/>
          <a:p>
            <a:pPr marL="0" indent="0">
              <a:buNone/>
            </a:pPr>
            <a:r>
              <a:rPr lang="tr-TR" sz="2400" err="1">
                <a:latin typeface="Calibri"/>
                <a:ea typeface="Calibri"/>
                <a:cs typeface="Calibri"/>
              </a:rPr>
              <a:t>Strenghts</a:t>
            </a:r>
            <a:r>
              <a:rPr lang="tr-TR" sz="2400">
                <a:latin typeface="Calibri"/>
                <a:ea typeface="Calibri"/>
                <a:cs typeface="Calibri"/>
              </a:rPr>
              <a:t>:</a:t>
            </a:r>
          </a:p>
          <a:p>
            <a:pPr marL="342900" indent="-342900"/>
            <a:r>
              <a:rPr lang="tr-TR" sz="2400" err="1">
                <a:latin typeface="Calibri"/>
                <a:ea typeface="Calibri"/>
                <a:cs typeface="Calibri"/>
              </a:rPr>
              <a:t>Attention</a:t>
            </a:r>
            <a:r>
              <a:rPr lang="tr-TR" sz="2400">
                <a:latin typeface="Calibri"/>
                <a:ea typeface="Calibri"/>
                <a:cs typeface="Calibri"/>
              </a:rPr>
              <a:t> </a:t>
            </a:r>
            <a:r>
              <a:rPr lang="tr-TR" sz="2400" err="1">
                <a:latin typeface="Calibri"/>
                <a:ea typeface="Calibri"/>
                <a:cs typeface="Calibri"/>
              </a:rPr>
              <a:t>weights</a:t>
            </a:r>
            <a:r>
              <a:rPr lang="tr-TR" sz="2400">
                <a:latin typeface="Calibri"/>
                <a:ea typeface="Calibri"/>
                <a:cs typeface="Calibri"/>
              </a:rPr>
              <a:t> </a:t>
            </a:r>
            <a:r>
              <a:rPr lang="en-US" sz="2400">
                <a:latin typeface="Calibri"/>
                <a:ea typeface="Calibri"/>
                <a:cs typeface="Calibri"/>
              </a:rPr>
              <a:t>allow us to visualize and understand </a:t>
            </a:r>
            <a:r>
              <a:rPr lang="en-US" sz="2400" i="1">
                <a:latin typeface="Calibri"/>
                <a:ea typeface="Calibri"/>
                <a:cs typeface="Calibri"/>
              </a:rPr>
              <a:t>which</a:t>
            </a:r>
            <a:r>
              <a:rPr lang="en-US" sz="2400">
                <a:latin typeface="Calibri"/>
                <a:ea typeface="Calibri"/>
                <a:cs typeface="Calibri"/>
              </a:rPr>
              <a:t> neighbors are most influential.</a:t>
            </a:r>
            <a:endParaRPr lang="tr-TR" sz="2400">
              <a:latin typeface="Calibri"/>
              <a:ea typeface="Calibri"/>
              <a:cs typeface="Calibri"/>
            </a:endParaRPr>
          </a:p>
          <a:p>
            <a:pPr marL="342900" indent="-342900"/>
            <a:r>
              <a:rPr lang="en-US" sz="2400">
                <a:latin typeface="Calibri"/>
                <a:ea typeface="Calibri"/>
                <a:cs typeface="Calibri"/>
              </a:rPr>
              <a:t>The self-attention mechanism is parallelizable</a:t>
            </a:r>
            <a:r>
              <a:rPr lang="tr-TR" sz="2400">
                <a:latin typeface="Calibri"/>
                <a:ea typeface="Calibri"/>
                <a:cs typeface="Calibri"/>
              </a:rPr>
              <a:t>.</a:t>
            </a:r>
          </a:p>
          <a:p>
            <a:pPr marL="0" indent="0">
              <a:buNone/>
            </a:pPr>
            <a:r>
              <a:rPr lang="tr-TR" sz="2400" err="1">
                <a:latin typeface="Calibri"/>
                <a:ea typeface="Calibri"/>
                <a:cs typeface="Calibri"/>
              </a:rPr>
              <a:t>Weakness</a:t>
            </a:r>
            <a:endParaRPr lang="tr-TR" sz="2400">
              <a:latin typeface="Calibri"/>
              <a:ea typeface="Calibri"/>
              <a:cs typeface="Calibri"/>
            </a:endParaRPr>
          </a:p>
          <a:p>
            <a:pPr marL="342900" indent="-342900"/>
            <a:r>
              <a:rPr lang="en-US" sz="2400">
                <a:latin typeface="Calibri"/>
                <a:ea typeface="Calibri"/>
                <a:cs typeface="Calibri"/>
              </a:rPr>
              <a:t>For dense graphs, storing attention coefficients for every edge creates a high memory footprint.</a:t>
            </a:r>
            <a:endParaRPr lang="tr-TR" sz="2400">
              <a:latin typeface="Calibri"/>
              <a:ea typeface="Calibri"/>
              <a:cs typeface="Calibri"/>
            </a:endParaRPr>
          </a:p>
        </p:txBody>
      </p:sp>
    </p:spTree>
    <p:extLst>
      <p:ext uri="{BB962C8B-B14F-4D97-AF65-F5344CB8AC3E}">
        <p14:creationId xmlns:p14="http://schemas.microsoft.com/office/powerpoint/2010/main" val="3336738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C92F5A2-744D-4C45-4A3A-59013CE44671}"/>
              </a:ext>
            </a:extLst>
          </p:cNvPr>
          <p:cNvSpPr>
            <a:spLocks noGrp="1"/>
          </p:cNvSpPr>
          <p:nvPr>
            <p:ph type="title"/>
          </p:nvPr>
        </p:nvSpPr>
        <p:spPr>
          <a:xfrm>
            <a:off x="1155556" y="6214530"/>
            <a:ext cx="4284418" cy="321736"/>
          </a:xfrm>
        </p:spPr>
        <p:txBody>
          <a:bodyPr vert="horz" lIns="91440" tIns="45720" rIns="91440" bIns="45720" rtlCol="0" anchor="b">
            <a:noAutofit/>
          </a:bodyPr>
          <a:lstStyle/>
          <a:p>
            <a:r>
              <a:rPr lang="en-US" sz="2000">
                <a:solidFill>
                  <a:schemeClr val="bg1"/>
                </a:solidFill>
              </a:rPr>
              <a:t>Thanks for listening </a:t>
            </a:r>
            <a:r>
              <a:rPr lang="en-US" sz="2000">
                <a:solidFill>
                  <a:schemeClr val="bg1"/>
                </a:solidFill>
                <a:sym typeface="Wingdings" panose="05000000000000000000" pitchFamily="2" charset="2"/>
              </a:rPr>
              <a:t></a:t>
            </a:r>
            <a:endParaRPr lang="en-US" sz="2000">
              <a:solidFill>
                <a:schemeClr val="bg1"/>
              </a:solidFill>
            </a:endParaRPr>
          </a:p>
        </p:txBody>
      </p:sp>
      <p:sp>
        <p:nvSpPr>
          <p:cNvPr id="21" name="Rectangle 2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descr="çizgi film, Çizgi film, emotikon, Animasyon içeren bir resim&#10;&#10;Yapay zeka tarafından oluşturulmuş içerik yanlış olabilir.">
            <a:extLst>
              <a:ext uri="{FF2B5EF4-FFF2-40B4-BE49-F238E27FC236}">
                <a16:creationId xmlns:a16="http://schemas.microsoft.com/office/drawing/2014/main" id="{3FA3AF05-C335-0F87-2A0E-0A73B803CC2C}"/>
              </a:ext>
            </a:extLst>
          </p:cNvPr>
          <p:cNvPicPr>
            <a:picLocks noGrp="1" noChangeAspect="1"/>
          </p:cNvPicPr>
          <p:nvPr>
            <p:ph idx="1"/>
          </p:nvPr>
        </p:nvPicPr>
        <p:blipFill>
          <a:blip r:embed="rId2"/>
          <a:srcRect r="248" b="2"/>
          <a:stretch>
            <a:fillRect/>
          </a:stretch>
        </p:blipFill>
        <p:spPr>
          <a:xfrm>
            <a:off x="1155556" y="637761"/>
            <a:ext cx="9889765" cy="5576763"/>
          </a:xfrm>
          <a:prstGeom prst="rect">
            <a:avLst/>
          </a:prstGeom>
        </p:spPr>
      </p:pic>
    </p:spTree>
    <p:extLst>
      <p:ext uri="{BB962C8B-B14F-4D97-AF65-F5344CB8AC3E}">
        <p14:creationId xmlns:p14="http://schemas.microsoft.com/office/powerpoint/2010/main" val="4273314921"/>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8FCD22309796BB47B57B055B08FF6C2C" ma:contentTypeVersion="6" ma:contentTypeDescription="Yeni belge oluşturun." ma:contentTypeScope="" ma:versionID="f535bcf01301eb1cf1c48c25e6a93648">
  <xsd:schema xmlns:xsd="http://www.w3.org/2001/XMLSchema" xmlns:xs="http://www.w3.org/2001/XMLSchema" xmlns:p="http://schemas.microsoft.com/office/2006/metadata/properties" xmlns:ns3="07124fc2-787e-4cb6-a862-a396da13e76b" targetNamespace="http://schemas.microsoft.com/office/2006/metadata/properties" ma:root="true" ma:fieldsID="11847225451323e371ed04fc338ea3f6" ns3:_="">
    <xsd:import namespace="07124fc2-787e-4cb6-a862-a396da13e76b"/>
    <xsd:element name="properties">
      <xsd:complexType>
        <xsd:sequence>
          <xsd:element name="documentManagement">
            <xsd:complexType>
              <xsd:all>
                <xsd:element ref="ns3:MediaServiceMetadata" minOccurs="0"/>
                <xsd:element ref="ns3:MediaServiceFastMetadata" minOccurs="0"/>
                <xsd:element ref="ns3:_activity"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124fc2-787e-4cb6-a862-a396da13e7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07124fc2-787e-4cb6-a862-a396da13e76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6DCCF7-61DC-497A-9DF7-6FD17FF47FE8}">
  <ds:schemaRefs>
    <ds:schemaRef ds:uri="07124fc2-787e-4cb6-a862-a396da13e7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E2E2604-EBC3-4F13-9CE8-143CC1B7182D}">
  <ds:schemaRefs>
    <ds:schemaRef ds:uri="http://purl.org/dc/dcmitype/"/>
    <ds:schemaRef ds:uri="http://www.w3.org/XML/1998/namespace"/>
    <ds:schemaRef ds:uri="http://schemas.microsoft.com/office/infopath/2007/PartnerControls"/>
    <ds:schemaRef ds:uri="http://purl.org/dc/term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07124fc2-787e-4cb6-a862-a396da13e76b"/>
  </ds:schemaRefs>
</ds:datastoreItem>
</file>

<file path=customXml/itemProps3.xml><?xml version="1.0" encoding="utf-8"?>
<ds:datastoreItem xmlns:ds="http://schemas.openxmlformats.org/officeDocument/2006/customXml" ds:itemID="{766E1F93-7599-4706-87F4-69CB7CD81B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2262</Words>
  <Application>Microsoft Office PowerPoint</Application>
  <PresentationFormat>Geniş ekran</PresentationFormat>
  <Paragraphs>148</Paragraphs>
  <Slides>15</Slides>
  <Notes>11</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15</vt:i4>
      </vt:variant>
    </vt:vector>
  </HeadingPairs>
  <TitlesOfParts>
    <vt:vector size="22" baseType="lpstr">
      <vt:lpstr>Aptos</vt:lpstr>
      <vt:lpstr>Aptos Display</vt:lpstr>
      <vt:lpstr>Arial</vt:lpstr>
      <vt:lpstr>Calibri</vt:lpstr>
      <vt:lpstr>Courier New</vt:lpstr>
      <vt:lpstr>Wingdings</vt:lpstr>
      <vt:lpstr>Office Teması</vt:lpstr>
      <vt:lpstr>AIN 422  Second Article Presentation </vt:lpstr>
      <vt:lpstr>Title &amp; Authors of the Paper</vt:lpstr>
      <vt:lpstr>Motivation</vt:lpstr>
      <vt:lpstr>Problem Statement</vt:lpstr>
      <vt:lpstr>Methodology</vt:lpstr>
      <vt:lpstr>Experiment Hardware Environment</vt:lpstr>
      <vt:lpstr>Dataset: CORA (Scientific Publications)</vt:lpstr>
      <vt:lpstr>Implementation Strategy</vt:lpstr>
      <vt:lpstr>Our Contribution: Dynamic Head Attention</vt:lpstr>
      <vt:lpstr>Results </vt:lpstr>
      <vt:lpstr>Contribution II: Edge-Enhanced GAT</vt:lpstr>
      <vt:lpstr>Structure</vt:lpstr>
      <vt:lpstr>Results</vt:lpstr>
      <vt:lpstr>Criticism</vt:lpstr>
      <vt:lpstr>Thanks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MUHAMMET BATUHAN DOGAN</dc:creator>
  <cp:lastModifiedBy>MUHAMMET BATUHAN DOGAN</cp:lastModifiedBy>
  <cp:revision>2</cp:revision>
  <dcterms:created xsi:type="dcterms:W3CDTF">2025-12-01T12:17:05Z</dcterms:created>
  <dcterms:modified xsi:type="dcterms:W3CDTF">2025-12-14T08:54:38Z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0x0101008FCD22309796BB47B57B055B08FF6C2C</vt:lpwstr>
  </property>
</Properties>
</file>